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4000" cy="30276000"/>
  <p:notesSz cx="30276000" cy="2138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005227"/>
            <a:ext cx="19875240" cy="0"/>
          </a:xfrm>
          <a:prstGeom prst="line">
            <a:avLst/>
          </a:prstGeom>
          <a:noFill/>
          <a:ln w="22225">
            <a:solidFill>
              <a:srgbClr val="AEB9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11651953"/>
            <a:ext cx="19875240" cy="0"/>
          </a:xfrm>
          <a:prstGeom prst="line">
            <a:avLst/>
          </a:prstGeom>
          <a:noFill/>
          <a:ln w="22225">
            <a:solidFill>
              <a:srgbClr val="AEB9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2298680"/>
            <a:ext cx="19875240" cy="0"/>
          </a:xfrm>
          <a:prstGeom prst="line">
            <a:avLst/>
          </a:prstGeom>
          <a:noFill/>
          <a:ln w="22225">
            <a:solidFill>
              <a:srgbClr val="AEB9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2945407"/>
            <a:ext cx="19875240" cy="0"/>
          </a:xfrm>
          <a:prstGeom prst="line">
            <a:avLst/>
          </a:prstGeom>
          <a:noFill/>
          <a:ln w="22225">
            <a:solidFill>
              <a:srgbClr val="AEB9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3592133"/>
            <a:ext cx="19875240" cy="0"/>
          </a:xfrm>
          <a:prstGeom prst="line">
            <a:avLst/>
          </a:prstGeom>
          <a:noFill/>
          <a:ln w="22225">
            <a:solidFill>
              <a:srgbClr val="AEB9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18240" y="11005227"/>
            <a:ext cx="0" cy="2586907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2737087"/>
            <a:ext cx="19875240" cy="0"/>
          </a:xfrm>
          <a:prstGeom prst="line">
            <a:avLst/>
          </a:prstGeom>
          <a:noFill/>
          <a:ln w="22225">
            <a:solidFill>
              <a:srgbClr val="AEB9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3383813"/>
            <a:ext cx="19875240" cy="0"/>
          </a:xfrm>
          <a:prstGeom prst="line">
            <a:avLst/>
          </a:prstGeom>
          <a:noFill/>
          <a:ln w="22225">
            <a:solidFill>
              <a:srgbClr val="AEB9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4030540"/>
            <a:ext cx="19875240" cy="0"/>
          </a:xfrm>
          <a:prstGeom prst="line">
            <a:avLst/>
          </a:prstGeom>
          <a:noFill/>
          <a:ln w="22225">
            <a:solidFill>
              <a:srgbClr val="AEB9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24677267"/>
            <a:ext cx="19875240" cy="0"/>
          </a:xfrm>
          <a:prstGeom prst="line">
            <a:avLst/>
          </a:prstGeom>
          <a:noFill/>
          <a:ln w="22225">
            <a:solidFill>
              <a:srgbClr val="AEB9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25323993"/>
            <a:ext cx="19875240" cy="0"/>
          </a:xfrm>
          <a:prstGeom prst="line">
            <a:avLst/>
          </a:prstGeom>
          <a:noFill/>
          <a:ln w="22225">
            <a:solidFill>
              <a:srgbClr val="AEB9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18240" y="22737087"/>
            <a:ext cx="0" cy="2586907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91392" y="22737087"/>
            <a:ext cx="128016" cy="2586907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11005227"/>
            <a:ext cx="0" cy="14318767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10109580"/>
            <a:ext cx="2240280" cy="4934199"/>
          </a:xfrm>
          <a:custGeom>
            <a:avLst/>
            <a:gdLst/>
            <a:ahLst/>
            <a:cxnLst/>
            <a:rect l="l" t="t" r="r" b="b"/>
            <a:pathLst>
              <a:path w="2240280" h="4934199">
                <a:moveTo>
                  <a:pt x="1191094" y="1537721"/>
                </a:moveTo>
                <a:lnTo>
                  <a:pt x="1323696" y="2196079"/>
                </a:lnTo>
                <a:quadBezTo>
                  <a:pt x="1344633" y="2193753"/>
                  <a:pt x="1365570" y="2193753"/>
                </a:quadBezTo>
                <a:quadBezTo>
                  <a:pt x="1386508" y="2193753"/>
                  <a:pt x="1405119" y="2193753"/>
                </a:quadBezTo>
                <a:quadBezTo>
                  <a:pt x="1586574" y="2193753"/>
                  <a:pt x="1740114" y="2264707"/>
                </a:quadBezTo>
                <a:quadBezTo>
                  <a:pt x="1893653" y="2335661"/>
                  <a:pt x="2005318" y="2453141"/>
                </a:quadBezTo>
                <a:quadBezTo>
                  <a:pt x="2116983" y="2570622"/>
                  <a:pt x="2178632" y="2722999"/>
                </a:quadBezTo>
                <a:quadBezTo>
                  <a:pt x="2240280" y="2875375"/>
                  <a:pt x="2240280" y="3038220"/>
                </a:quadBezTo>
                <a:quadBezTo>
                  <a:pt x="2240280" y="3170822"/>
                  <a:pt x="2199569" y="3292956"/>
                </a:quadBezTo>
                <a:quadBezTo>
                  <a:pt x="2158858" y="3415089"/>
                  <a:pt x="2080925" y="3516286"/>
                </a:quadBezTo>
                <a:quadBezTo>
                  <a:pt x="2002992" y="3617482"/>
                  <a:pt x="1891327" y="3693089"/>
                </a:quadBezTo>
                <a:quadBezTo>
                  <a:pt x="1779662" y="3768695"/>
                  <a:pt x="1637754" y="3805917"/>
                </a:quadBezTo>
                <a:lnTo>
                  <a:pt x="1716850" y="4217682"/>
                </a:lnTo>
                <a:quadBezTo>
                  <a:pt x="1721503" y="4250251"/>
                  <a:pt x="1724992" y="4279330"/>
                </a:quadBezTo>
                <a:quadBezTo>
                  <a:pt x="1728482" y="4308410"/>
                  <a:pt x="1728482" y="4340979"/>
                </a:quadBezTo>
                <a:quadBezTo>
                  <a:pt x="1728482" y="4461949"/>
                  <a:pt x="1685444" y="4568961"/>
                </a:quadBezTo>
                <a:quadBezTo>
                  <a:pt x="1642407" y="4675974"/>
                  <a:pt x="1566800" y="4757396"/>
                </a:quadBezTo>
                <a:quadBezTo>
                  <a:pt x="1491194" y="4838819"/>
                  <a:pt x="1391160" y="4886509"/>
                </a:quadBezTo>
                <a:quadBezTo>
                  <a:pt x="1291127" y="4934199"/>
                  <a:pt x="1177136" y="4934199"/>
                </a:quadBezTo>
                <a:quadBezTo>
                  <a:pt x="1072450" y="4934199"/>
                  <a:pt x="972416" y="4902793"/>
                </a:quadBezTo>
                <a:quadBezTo>
                  <a:pt x="872383" y="4871388"/>
                  <a:pt x="794450" y="4814392"/>
                </a:quadBezTo>
                <a:quadBezTo>
                  <a:pt x="716517" y="4757396"/>
                  <a:pt x="668827" y="4673647"/>
                </a:quadBezTo>
                <a:quadBezTo>
                  <a:pt x="621137" y="4589899"/>
                  <a:pt x="621137" y="4485213"/>
                </a:quadBezTo>
                <a:quadBezTo>
                  <a:pt x="621137" y="4385179"/>
                  <a:pt x="678133" y="4307247"/>
                </a:quadBezTo>
                <a:quadBezTo>
                  <a:pt x="735128" y="4229314"/>
                  <a:pt x="865404" y="4210703"/>
                </a:quadBezTo>
                <a:quadBezTo>
                  <a:pt x="877036" y="4208376"/>
                  <a:pt x="889831" y="4207213"/>
                </a:quadBezTo>
                <a:quadBezTo>
                  <a:pt x="902626" y="4206050"/>
                  <a:pt x="914258" y="4206050"/>
                </a:quadBezTo>
                <a:quadBezTo>
                  <a:pt x="979396" y="4206050"/>
                  <a:pt x="1032902" y="4232803"/>
                </a:quadBezTo>
                <a:quadBezTo>
                  <a:pt x="1086408" y="4259556"/>
                  <a:pt x="1124793" y="4303757"/>
                </a:quadBezTo>
                <a:quadBezTo>
                  <a:pt x="1163178" y="4347958"/>
                  <a:pt x="1182952" y="4402627"/>
                </a:quadBezTo>
                <a:quadBezTo>
                  <a:pt x="1202726" y="4457296"/>
                  <a:pt x="1202726" y="4515455"/>
                </a:quadBezTo>
                <a:quadBezTo>
                  <a:pt x="1202726" y="4592225"/>
                  <a:pt x="1163178" y="4664342"/>
                </a:quadBezTo>
                <a:quadBezTo>
                  <a:pt x="1123630" y="4736459"/>
                  <a:pt x="1037554" y="4776007"/>
                </a:quadBezTo>
                <a:quadBezTo>
                  <a:pt x="1070123" y="4787639"/>
                  <a:pt x="1100366" y="4791128"/>
                </a:quadBezTo>
                <a:quadBezTo>
                  <a:pt x="1130609" y="4794618"/>
                  <a:pt x="1163178" y="4794618"/>
                </a:quadBezTo>
                <a:quadBezTo>
                  <a:pt x="1251579" y="4794618"/>
                  <a:pt x="1322533" y="4758559"/>
                </a:quadBezTo>
                <a:quadBezTo>
                  <a:pt x="1393487" y="4722501"/>
                  <a:pt x="1442340" y="4662016"/>
                </a:quadBezTo>
                <a:quadBezTo>
                  <a:pt x="1491194" y="4601530"/>
                  <a:pt x="1517947" y="4518945"/>
                </a:quadBezTo>
                <a:quadBezTo>
                  <a:pt x="1544700" y="4436359"/>
                  <a:pt x="1544700" y="4340979"/>
                </a:quadBezTo>
                <a:quadBezTo>
                  <a:pt x="1544700" y="4313062"/>
                  <a:pt x="1538884" y="4264209"/>
                </a:quadBezTo>
                <a:quadBezTo>
                  <a:pt x="1533068" y="4215356"/>
                  <a:pt x="1528415" y="4187439"/>
                </a:quadBezTo>
                <a:lnTo>
                  <a:pt x="1460951" y="3838486"/>
                </a:lnTo>
                <a:quadBezTo>
                  <a:pt x="1398139" y="3854770"/>
                  <a:pt x="1295780" y="3854770"/>
                </a:quadBezTo>
                <a:quadBezTo>
                  <a:pt x="1065471" y="3854770"/>
                  <a:pt x="840977" y="3805917"/>
                </a:quadBezTo>
                <a:quadBezTo>
                  <a:pt x="616484" y="3757064"/>
                  <a:pt x="436192" y="3638419"/>
                </a:quadBezTo>
                <a:quadBezTo>
                  <a:pt x="255899" y="3519775"/>
                  <a:pt x="137255" y="3323198"/>
                </a:quadBezTo>
                <a:quadBezTo>
                  <a:pt x="18611" y="3126621"/>
                  <a:pt x="2326" y="2831174"/>
                </a:quadBezTo>
                <a:quadBezTo>
                  <a:pt x="0" y="2807911"/>
                  <a:pt x="0" y="2784647"/>
                </a:quadBezTo>
                <a:quadBezTo>
                  <a:pt x="0" y="2761384"/>
                  <a:pt x="0" y="2738120"/>
                </a:quadBezTo>
                <a:quadBezTo>
                  <a:pt x="0" y="2519443"/>
                  <a:pt x="60485" y="2308907"/>
                </a:quadBezTo>
                <a:quadBezTo>
                  <a:pt x="120970" y="2098372"/>
                  <a:pt x="253573" y="1916917"/>
                </a:quadBezTo>
                <a:quadBezTo>
                  <a:pt x="407112" y="1716850"/>
                  <a:pt x="586241" y="1574942"/>
                </a:quadBezTo>
                <a:quadBezTo>
                  <a:pt x="765371" y="1433035"/>
                  <a:pt x="984048" y="1316717"/>
                </a:quadBezTo>
                <a:quadBezTo>
                  <a:pt x="949153" y="1139914"/>
                  <a:pt x="924726" y="1011964"/>
                </a:quadBezTo>
                <a:quadBezTo>
                  <a:pt x="900299" y="884015"/>
                  <a:pt x="884015" y="794450"/>
                </a:quadBezTo>
                <a:quadBezTo>
                  <a:pt x="867730" y="704886"/>
                  <a:pt x="858425" y="646727"/>
                </a:quadBezTo>
                <a:quadBezTo>
                  <a:pt x="849120" y="588568"/>
                  <a:pt x="843304" y="551346"/>
                </a:quadBezTo>
                <a:quadBezTo>
                  <a:pt x="837488" y="514124"/>
                  <a:pt x="836325" y="490861"/>
                </a:quadBezTo>
                <a:quadBezTo>
                  <a:pt x="835161" y="467597"/>
                  <a:pt x="835161" y="446660"/>
                </a:quadBezTo>
                <a:quadBezTo>
                  <a:pt x="835161" y="358259"/>
                  <a:pt x="860751" y="277999"/>
                </a:quadBezTo>
                <a:quadBezTo>
                  <a:pt x="886341" y="197740"/>
                  <a:pt x="935195" y="136092"/>
                </a:quadBezTo>
                <a:quadBezTo>
                  <a:pt x="984048" y="74443"/>
                  <a:pt x="1055002" y="37222"/>
                </a:quadBezTo>
                <a:quadBezTo>
                  <a:pt x="1125956" y="0"/>
                  <a:pt x="1216684" y="0"/>
                </a:quadBezTo>
                <a:quadBezTo>
                  <a:pt x="1328349" y="0"/>
                  <a:pt x="1414424" y="52343"/>
                </a:quadBezTo>
                <a:quadBezTo>
                  <a:pt x="1500499" y="104686"/>
                  <a:pt x="1557495" y="186108"/>
                </a:quadBezTo>
                <a:quadBezTo>
                  <a:pt x="1614490" y="267531"/>
                  <a:pt x="1643570" y="367564"/>
                </a:quadBezTo>
                <a:quadBezTo>
                  <a:pt x="1672649" y="467597"/>
                  <a:pt x="1672649" y="562978"/>
                </a:quadBezTo>
                <a:quadBezTo>
                  <a:pt x="1672649" y="700233"/>
                  <a:pt x="1629612" y="835161"/>
                </a:quadBezTo>
                <a:quadBezTo>
                  <a:pt x="1586574" y="970090"/>
                  <a:pt x="1517947" y="1095713"/>
                </a:quadBezTo>
                <a:quadBezTo>
                  <a:pt x="1449319" y="1221336"/>
                  <a:pt x="1363244" y="1334165"/>
                </a:quadBezTo>
                <a:quadBezTo>
                  <a:pt x="1277169" y="1446993"/>
                  <a:pt x="1191094" y="1537721"/>
                </a:quadBezTo>
                <a:close/>
                <a:moveTo>
                  <a:pt x="1253905" y="358259"/>
                </a:moveTo>
                <a:quadBezTo>
                  <a:pt x="1179462" y="358259"/>
                  <a:pt x="1136424" y="389664"/>
                </a:quadBezTo>
                <a:quadBezTo>
                  <a:pt x="1093387" y="421070"/>
                  <a:pt x="1071287" y="462945"/>
                </a:quadBezTo>
                <a:quadBezTo>
                  <a:pt x="1049186" y="504819"/>
                  <a:pt x="1043370" y="547857"/>
                </a:quadBezTo>
                <a:quadBezTo>
                  <a:pt x="1037554" y="590894"/>
                  <a:pt x="1037554" y="614158"/>
                </a:quadBezTo>
                <a:quadBezTo>
                  <a:pt x="1037554" y="783982"/>
                  <a:pt x="1070123" y="932868"/>
                </a:quadBezTo>
                <a:quadBezTo>
                  <a:pt x="1102692" y="1081755"/>
                  <a:pt x="1128282" y="1223663"/>
                </a:quadBezTo>
                <a:quadBezTo>
                  <a:pt x="1216684" y="1172483"/>
                  <a:pt x="1282985" y="1103856"/>
                </a:quadBezTo>
                <a:quadBezTo>
                  <a:pt x="1349286" y="1035228"/>
                  <a:pt x="1393487" y="958458"/>
                </a:quadBezTo>
                <a:quadBezTo>
                  <a:pt x="1437687" y="881689"/>
                  <a:pt x="1459788" y="802593"/>
                </a:quadBezTo>
                <a:quadBezTo>
                  <a:pt x="1481888" y="723496"/>
                  <a:pt x="1481888" y="653706"/>
                </a:quadBezTo>
                <a:quadBezTo>
                  <a:pt x="1481888" y="602526"/>
                  <a:pt x="1471420" y="549020"/>
                </a:quadBezTo>
                <a:quadBezTo>
                  <a:pt x="1460951" y="495514"/>
                  <a:pt x="1435361" y="453639"/>
                </a:quadBezTo>
                <a:quadBezTo>
                  <a:pt x="1409771" y="411765"/>
                  <a:pt x="1365570" y="385012"/>
                </a:quadBezTo>
                <a:quadBezTo>
                  <a:pt x="1321370" y="358259"/>
                  <a:pt x="1253905" y="358259"/>
                </a:quadBezTo>
                <a:close/>
                <a:moveTo>
                  <a:pt x="1430708" y="3684947"/>
                </a:moveTo>
                <a:lnTo>
                  <a:pt x="1230642" y="2619476"/>
                </a:lnTo>
                <a:quadBezTo>
                  <a:pt x="1142240" y="2640413"/>
                  <a:pt x="1075939" y="2690430"/>
                </a:quadBezTo>
                <a:quadBezTo>
                  <a:pt x="1009638" y="2740446"/>
                  <a:pt x="965437" y="2809074"/>
                </a:quadBezTo>
                <a:quadBezTo>
                  <a:pt x="921237" y="2877701"/>
                  <a:pt x="899136" y="2957961"/>
                </a:quadBezTo>
                <a:quadBezTo>
                  <a:pt x="877036" y="3038220"/>
                  <a:pt x="877036" y="3119642"/>
                </a:quadBezTo>
                <a:quadBezTo>
                  <a:pt x="877036" y="3149885"/>
                  <a:pt x="880525" y="3180127"/>
                </a:quadBezTo>
                <a:quadBezTo>
                  <a:pt x="884015" y="3210370"/>
                  <a:pt x="888668" y="3238286"/>
                </a:quadBezTo>
                <a:quadBezTo>
                  <a:pt x="779329" y="3187107"/>
                  <a:pt x="723496" y="3094052"/>
                </a:quadBezTo>
                <a:quadBezTo>
                  <a:pt x="667664" y="3000998"/>
                  <a:pt x="667664" y="2887007"/>
                </a:quadBezTo>
                <a:quadBezTo>
                  <a:pt x="667664" y="2773015"/>
                  <a:pt x="707212" y="2670656"/>
                </a:quadBezTo>
                <a:quadBezTo>
                  <a:pt x="746760" y="2568296"/>
                  <a:pt x="815387" y="2484547"/>
                </a:quadBezTo>
                <a:quadBezTo>
                  <a:pt x="884015" y="2400799"/>
                  <a:pt x="973580" y="2337987"/>
                </a:quadBezTo>
                <a:quadBezTo>
                  <a:pt x="1063144" y="2275175"/>
                  <a:pt x="1163178" y="2237954"/>
                </a:quadBezTo>
                <a:quadBezTo>
                  <a:pt x="1137588" y="2103025"/>
                  <a:pt x="1114324" y="1986707"/>
                </a:quadBezTo>
                <a:lnTo>
                  <a:pt x="1053839" y="1677302"/>
                </a:lnTo>
                <a:quadBezTo>
                  <a:pt x="890994" y="1830841"/>
                  <a:pt x="730476" y="1983218"/>
                </a:quadBezTo>
                <a:quadBezTo>
                  <a:pt x="569957" y="2135594"/>
                  <a:pt x="421070" y="2310071"/>
                </a:quadBezTo>
                <a:quadBezTo>
                  <a:pt x="372217" y="2368230"/>
                  <a:pt x="325690" y="2431041"/>
                </a:quadBezTo>
                <a:quadBezTo>
                  <a:pt x="279163" y="2493853"/>
                  <a:pt x="244267" y="2562480"/>
                </a:quadBezTo>
                <a:quadBezTo>
                  <a:pt x="209372" y="2631108"/>
                  <a:pt x="188435" y="2704388"/>
                </a:quadBezTo>
                <a:quadBezTo>
                  <a:pt x="167498" y="2777668"/>
                  <a:pt x="167498" y="2856764"/>
                </a:quadBezTo>
                <a:quadBezTo>
                  <a:pt x="169824" y="3019609"/>
                  <a:pt x="219841" y="3144069"/>
                </a:quadBezTo>
                <a:quadBezTo>
                  <a:pt x="269857" y="3268529"/>
                  <a:pt x="353606" y="3362746"/>
                </a:quadBezTo>
                <a:quadBezTo>
                  <a:pt x="437355" y="3456964"/>
                  <a:pt x="547857" y="3520939"/>
                </a:quadBezTo>
                <a:quadBezTo>
                  <a:pt x="658359" y="3584913"/>
                  <a:pt x="779329" y="3624461"/>
                </a:quadBezTo>
                <a:quadBezTo>
                  <a:pt x="900299" y="3664009"/>
                  <a:pt x="1024759" y="3681457"/>
                </a:quadBezTo>
                <a:quadBezTo>
                  <a:pt x="1149219" y="3698905"/>
                  <a:pt x="1260884" y="3698905"/>
                </a:quadBezTo>
                <a:quadBezTo>
                  <a:pt x="1346960" y="3698905"/>
                  <a:pt x="1430708" y="3684947"/>
                </a:quadBezTo>
                <a:close/>
                <a:moveTo>
                  <a:pt x="1398139" y="2603191"/>
                </a:moveTo>
                <a:lnTo>
                  <a:pt x="1602859" y="3638419"/>
                </a:lnTo>
                <a:quadBezTo>
                  <a:pt x="1707545" y="3610503"/>
                  <a:pt x="1786641" y="3551181"/>
                </a:quadBezTo>
                <a:quadBezTo>
                  <a:pt x="1865737" y="3491859"/>
                  <a:pt x="1918080" y="3415089"/>
                </a:quadBezTo>
                <a:quadBezTo>
                  <a:pt x="1970423" y="3338320"/>
                  <a:pt x="1996013" y="3251081"/>
                </a:quadBezTo>
                <a:quadBezTo>
                  <a:pt x="2021603" y="3163843"/>
                  <a:pt x="2021603" y="3077768"/>
                </a:quadBezTo>
                <a:quadBezTo>
                  <a:pt x="2021603" y="2942839"/>
                  <a:pt x="1966933" y="2852111"/>
                </a:quadBezTo>
                <a:quadBezTo>
                  <a:pt x="1912264" y="2761384"/>
                  <a:pt x="1823862" y="2705551"/>
                </a:quadBezTo>
                <a:quadBezTo>
                  <a:pt x="1735461" y="2649719"/>
                  <a:pt x="1623796" y="2626455"/>
                </a:quadBezTo>
                <a:quadBezTo>
                  <a:pt x="1512131" y="2603191"/>
                  <a:pt x="1398139" y="2603191"/>
                </a:quadBezTo>
                <a:close/>
              </a:path>
            </a:pathLst>
          </a:custGeom>
          <a:solidFill>
            <a:srgbClr val="1B2A41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22543795"/>
            <a:ext cx="1802115" cy="1903847"/>
          </a:xfrm>
          <a:custGeom>
            <a:avLst/>
            <a:gdLst/>
            <a:ahLst/>
            <a:cxnLst/>
            <a:rect l="l" t="t" r="r" b="b"/>
            <a:pathLst>
              <a:path w="1802115" h="1903847">
                <a:moveTo>
                  <a:pt x="260144" y="713579"/>
                </a:moveTo>
                <a:quadBezTo>
                  <a:pt x="274677" y="701953"/>
                  <a:pt x="295024" y="693233"/>
                </a:quadBezTo>
                <a:quadBezTo>
                  <a:pt x="312463" y="685966"/>
                  <a:pt x="337897" y="679426"/>
                </a:quadBezTo>
                <a:quadBezTo>
                  <a:pt x="363330" y="672886"/>
                  <a:pt x="396756" y="672886"/>
                </a:quadBezTo>
                <a:quadBezTo>
                  <a:pt x="446169" y="672886"/>
                  <a:pt x="484682" y="691053"/>
                </a:quadBezTo>
                <a:quadBezTo>
                  <a:pt x="523195" y="709219"/>
                  <a:pt x="550081" y="739739"/>
                </a:quadBezTo>
                <a:quadBezTo>
                  <a:pt x="576967" y="770259"/>
                  <a:pt x="591501" y="810225"/>
                </a:quadBezTo>
                <a:quadBezTo>
                  <a:pt x="606034" y="850191"/>
                  <a:pt x="606034" y="892338"/>
                </a:quadBezTo>
                <a:quadBezTo>
                  <a:pt x="606034" y="943204"/>
                  <a:pt x="586414" y="984623"/>
                </a:quadBezTo>
                <a:quadBezTo>
                  <a:pt x="566794" y="1026043"/>
                  <a:pt x="534821" y="1055109"/>
                </a:quadBezTo>
                <a:quadBezTo>
                  <a:pt x="502848" y="1084176"/>
                  <a:pt x="462155" y="1099435"/>
                </a:quadBezTo>
                <a:quadBezTo>
                  <a:pt x="421462" y="1114695"/>
                  <a:pt x="377863" y="1114695"/>
                </a:quadBezTo>
                <a:quadBezTo>
                  <a:pt x="312463" y="1114695"/>
                  <a:pt x="245611" y="1082722"/>
                </a:quadBezTo>
                <a:quadBezTo>
                  <a:pt x="178758" y="1050749"/>
                  <a:pt x="124259" y="988257"/>
                </a:quadBezTo>
                <a:quadBezTo>
                  <a:pt x="69759" y="925764"/>
                  <a:pt x="34880" y="833478"/>
                </a:quadBezTo>
                <a:quadBezTo>
                  <a:pt x="0" y="741192"/>
                  <a:pt x="0" y="622020"/>
                </a:quadBezTo>
                <a:quadBezTo>
                  <a:pt x="0" y="463609"/>
                  <a:pt x="54499" y="345890"/>
                </a:quadBezTo>
                <a:quadBezTo>
                  <a:pt x="108999" y="228171"/>
                  <a:pt x="201285" y="151872"/>
                </a:quadBezTo>
                <a:quadBezTo>
                  <a:pt x="293570" y="75573"/>
                  <a:pt x="414196" y="37786"/>
                </a:quadBezTo>
                <a:quadBezTo>
                  <a:pt x="534821" y="0"/>
                  <a:pt x="665620" y="0"/>
                </a:quadBezTo>
                <a:quadBezTo>
                  <a:pt x="816765" y="0"/>
                  <a:pt x="942477" y="45780"/>
                </a:quadBezTo>
                <a:quadBezTo>
                  <a:pt x="1068189" y="91559"/>
                  <a:pt x="1159021" y="182391"/>
                </a:quadBezTo>
                <a:quadBezTo>
                  <a:pt x="1249854" y="273224"/>
                  <a:pt x="1299993" y="409836"/>
                </a:quadBezTo>
                <a:quadBezTo>
                  <a:pt x="1350133" y="546448"/>
                  <a:pt x="1350133" y="729566"/>
                </a:quadBezTo>
                <a:quadBezTo>
                  <a:pt x="1350133" y="908324"/>
                  <a:pt x="1310167" y="1053656"/>
                </a:quadBezTo>
                <a:quadBezTo>
                  <a:pt x="1270200" y="1198988"/>
                  <a:pt x="1200441" y="1315253"/>
                </a:quadBezTo>
                <a:quadBezTo>
                  <a:pt x="1130682" y="1431519"/>
                  <a:pt x="1036943" y="1520171"/>
                </a:quadBezTo>
                <a:quadBezTo>
                  <a:pt x="943204" y="1608824"/>
                  <a:pt x="837111" y="1674223"/>
                </a:quadBezTo>
                <a:quadBezTo>
                  <a:pt x="731019" y="1739622"/>
                  <a:pt x="617660" y="1783948"/>
                </a:quadBezTo>
                <a:quadBezTo>
                  <a:pt x="504302" y="1828275"/>
                  <a:pt x="393849" y="1854434"/>
                </a:quadBezTo>
                <a:quadBezTo>
                  <a:pt x="283397" y="1880594"/>
                  <a:pt x="182391" y="1892221"/>
                </a:quadBezTo>
                <a:quadBezTo>
                  <a:pt x="81386" y="1903847"/>
                  <a:pt x="0" y="1903847"/>
                </a:quadBezTo>
                <a:lnTo>
                  <a:pt x="0" y="1703289"/>
                </a:lnTo>
                <a:quadBezTo>
                  <a:pt x="59586" y="1703289"/>
                  <a:pt x="138792" y="1696749"/>
                </a:quadBezTo>
                <a:quadBezTo>
                  <a:pt x="217998" y="1690209"/>
                  <a:pt x="306650" y="1671316"/>
                </a:quadBezTo>
                <a:quadBezTo>
                  <a:pt x="395303" y="1652423"/>
                  <a:pt x="488315" y="1620450"/>
                </a:quadBezTo>
                <a:quadBezTo>
                  <a:pt x="581327" y="1588477"/>
                  <a:pt x="669980" y="1537611"/>
                </a:quadBezTo>
                <a:quadBezTo>
                  <a:pt x="758632" y="1486745"/>
                  <a:pt x="837111" y="1415532"/>
                </a:quadBezTo>
                <a:quadBezTo>
                  <a:pt x="915591" y="1344320"/>
                  <a:pt x="975177" y="1246947"/>
                </a:quadBezTo>
                <a:quadBezTo>
                  <a:pt x="1034763" y="1149575"/>
                  <a:pt x="1068916" y="1025316"/>
                </a:quadBezTo>
                <a:quadBezTo>
                  <a:pt x="1103069" y="901057"/>
                  <a:pt x="1103069" y="744099"/>
                </a:quadBezTo>
                <a:quadBezTo>
                  <a:pt x="1103069" y="591501"/>
                  <a:pt x="1067462" y="486862"/>
                </a:quadBezTo>
                <a:quadBezTo>
                  <a:pt x="1031856" y="382223"/>
                  <a:pt x="971543" y="318277"/>
                </a:quadBezTo>
                <a:quadBezTo>
                  <a:pt x="911231" y="254331"/>
                  <a:pt x="832025" y="226718"/>
                </a:quadBezTo>
                <a:quadBezTo>
                  <a:pt x="752819" y="199105"/>
                  <a:pt x="665620" y="199105"/>
                </a:quadBezTo>
                <a:quadBezTo>
                  <a:pt x="587141" y="199105"/>
                  <a:pt x="511568" y="220904"/>
                </a:quadBezTo>
                <a:quadBezTo>
                  <a:pt x="435996" y="242704"/>
                  <a:pt x="377136" y="292117"/>
                </a:quadBezTo>
                <a:quadBezTo>
                  <a:pt x="318277" y="341530"/>
                  <a:pt x="282670" y="422916"/>
                </a:quadBezTo>
                <a:quadBezTo>
                  <a:pt x="247064" y="504302"/>
                  <a:pt x="247064" y="622020"/>
                </a:quadBezTo>
                <a:quadBezTo>
                  <a:pt x="247064" y="642367"/>
                  <a:pt x="248517" y="659080"/>
                </a:quadBezTo>
                <a:quadBezTo>
                  <a:pt x="249971" y="675793"/>
                  <a:pt x="252877" y="687420"/>
                </a:quadBezTo>
                <a:quadBezTo>
                  <a:pt x="255784" y="701953"/>
                  <a:pt x="260144" y="713579"/>
                </a:quadBezTo>
                <a:close/>
                <a:moveTo>
                  <a:pt x="1637890" y="677246"/>
                </a:moveTo>
                <a:quadBezTo>
                  <a:pt x="1571037" y="677246"/>
                  <a:pt x="1523804" y="629287"/>
                </a:quadBezTo>
                <a:quadBezTo>
                  <a:pt x="1476572" y="581327"/>
                  <a:pt x="1476572" y="514475"/>
                </a:quadBezTo>
                <a:quadBezTo>
                  <a:pt x="1476572" y="447622"/>
                  <a:pt x="1523804" y="401116"/>
                </a:quadBezTo>
                <a:quadBezTo>
                  <a:pt x="1571037" y="354610"/>
                  <a:pt x="1637890" y="354610"/>
                </a:quadBezTo>
                <a:quadBezTo>
                  <a:pt x="1706196" y="354610"/>
                  <a:pt x="1754155" y="401116"/>
                </a:quadBezTo>
                <a:quadBezTo>
                  <a:pt x="1802115" y="447622"/>
                  <a:pt x="1802115" y="514475"/>
                </a:quadBezTo>
                <a:quadBezTo>
                  <a:pt x="1802115" y="581327"/>
                  <a:pt x="1754155" y="629287"/>
                </a:quadBezTo>
                <a:quadBezTo>
                  <a:pt x="1706196" y="677246"/>
                  <a:pt x="1637890" y="677246"/>
                </a:quadBezTo>
                <a:close/>
                <a:moveTo>
                  <a:pt x="1637890" y="1322520"/>
                </a:moveTo>
                <a:quadBezTo>
                  <a:pt x="1571037" y="1322520"/>
                  <a:pt x="1523804" y="1274560"/>
                </a:quadBezTo>
                <a:quadBezTo>
                  <a:pt x="1476572" y="1226601"/>
                  <a:pt x="1476572" y="1159748"/>
                </a:quadBezTo>
                <a:quadBezTo>
                  <a:pt x="1476572" y="1092896"/>
                  <a:pt x="1523804" y="1044209"/>
                </a:quadBezTo>
                <a:quadBezTo>
                  <a:pt x="1571037" y="995523"/>
                  <a:pt x="1637890" y="995523"/>
                </a:quadBezTo>
                <a:quadBezTo>
                  <a:pt x="1706196" y="995523"/>
                  <a:pt x="1754155" y="1044209"/>
                </a:quadBezTo>
                <a:quadBezTo>
                  <a:pt x="1802115" y="1092896"/>
                  <a:pt x="1802115" y="1159748"/>
                </a:quadBezTo>
                <a:quadBezTo>
                  <a:pt x="1802115" y="1226601"/>
                  <a:pt x="1754155" y="1274560"/>
                </a:quadBezTo>
                <a:quadBezTo>
                  <a:pt x="1706196" y="1322520"/>
                  <a:pt x="1637890" y="1322520"/>
                </a:quadBezTo>
                <a:close/>
              </a:path>
            </a:pathLst>
          </a:custGeom>
          <a:solidFill>
            <a:srgbClr val="1B2A41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11005227"/>
            <a:ext cx="365760" cy="14318767"/>
          </a:xfrm>
          <a:custGeom>
            <a:avLst/>
            <a:gdLst/>
            <a:ahLst/>
            <a:cxnLst/>
            <a:rect l="l" t="t" r="r" b="b"/>
            <a:pathLst>
              <a:path w="365760" h="14318767">
                <a:moveTo>
                  <a:pt x="365760" y="14318767"/>
                </a:moveTo>
                <a:quadBezTo>
                  <a:pt x="123237" y="14286224"/>
                  <a:pt x="123237" y="11796711"/>
                </a:quadBezTo>
                <a:lnTo>
                  <a:pt x="123237" y="9356012"/>
                </a:lnTo>
                <a:quadBezTo>
                  <a:pt x="123237" y="7712609"/>
                  <a:pt x="0" y="7631252"/>
                </a:quadBezTo>
                <a:lnTo>
                  <a:pt x="0" y="6687515"/>
                </a:lnTo>
                <a:quadBezTo>
                  <a:pt x="123237" y="6606158"/>
                  <a:pt x="123237" y="4930212"/>
                </a:quadBezTo>
                <a:lnTo>
                  <a:pt x="123237" y="2554598"/>
                </a:lnTo>
                <a:quadBezTo>
                  <a:pt x="123237" y="32543"/>
                  <a:pt x="365760" y="0"/>
                </a:quadBezTo>
                <a:lnTo>
                  <a:pt x="365760" y="1041365"/>
                </a:lnTo>
                <a:quadBezTo>
                  <a:pt x="240153" y="1073908"/>
                  <a:pt x="240153" y="2652226"/>
                </a:quadBezTo>
                <a:lnTo>
                  <a:pt x="240153" y="5035975"/>
                </a:lnTo>
                <a:quadBezTo>
                  <a:pt x="240153" y="6744465"/>
                  <a:pt x="121657" y="7134976"/>
                </a:quadBezTo>
                <a:lnTo>
                  <a:pt x="121657" y="7167519"/>
                </a:lnTo>
                <a:quadBezTo>
                  <a:pt x="240153" y="7533624"/>
                  <a:pt x="240153" y="9250249"/>
                </a:quadBezTo>
                <a:lnTo>
                  <a:pt x="240153" y="11601455"/>
                </a:lnTo>
                <a:quadBezTo>
                  <a:pt x="240153" y="12504514"/>
                  <a:pt x="268198" y="12890958"/>
                </a:quadBezTo>
                <a:quadBezTo>
                  <a:pt x="296242" y="13277402"/>
                  <a:pt x="365760" y="13293673"/>
                </a:quadBezTo>
                <a:close/>
              </a:path>
            </a:pathLst>
          </a:custGeom>
          <a:solidFill>
            <a:srgbClr val="1B2A4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52728" y="6629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300" kern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252728" y="18608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300" kern="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0"/>
            <a:ext cx="21384000" cy="397764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11480"/>
            <a:ext cx="2001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600" kern="0" dirty="0">
                <a:solidFill>
                  <a:srgbClr val="E0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CANTUS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914400"/>
            <a:ext cx="2001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Voice-Aware Tokenization for</a:t>
            </a:r>
            <a:endParaRPr lang="en-US" sz="6000" dirty="0"/>
          </a:p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Music Generation</a:t>
            </a:r>
            <a:endParaRPr lang="en-US" sz="6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2852928"/>
            <a:ext cx="2001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PRISMA 2020 systematic review of 28 studies, and a proposed framework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310128"/>
            <a:ext cx="2001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pPr algn="l" indent="0" marL="0">
              <a:buNone/>
            </a:pPr>
            <a:r>
              <a:rPr lang="en-US" sz="2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APIIT School of Computing, Colombo, Sri Lanka   ·   [your.email@students.apiit.lk]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2984480" y="685800"/>
            <a:ext cx="7713720" cy="0"/>
          </a:xfrm>
          <a:prstGeom prst="line">
            <a:avLst/>
          </a:prstGeom>
          <a:noFill/>
          <a:ln w="19050">
            <a:solidFill>
              <a:srgbClr val="3B4B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984480" y="1252728"/>
            <a:ext cx="7713720" cy="0"/>
          </a:xfrm>
          <a:prstGeom prst="line">
            <a:avLst/>
          </a:prstGeom>
          <a:noFill/>
          <a:ln w="19050">
            <a:solidFill>
              <a:srgbClr val="3B4B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984480" y="1819656"/>
            <a:ext cx="7713720" cy="0"/>
          </a:xfrm>
          <a:prstGeom prst="line">
            <a:avLst/>
          </a:prstGeom>
          <a:noFill/>
          <a:ln w="19050">
            <a:solidFill>
              <a:srgbClr val="3B4B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984480" y="2386584"/>
            <a:ext cx="7713720" cy="0"/>
          </a:xfrm>
          <a:prstGeom prst="line">
            <a:avLst/>
          </a:prstGeom>
          <a:noFill/>
          <a:ln w="19050">
            <a:solidFill>
              <a:srgbClr val="3B4B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984480" y="2953512"/>
            <a:ext cx="7713720" cy="0"/>
          </a:xfrm>
          <a:prstGeom prst="line">
            <a:avLst/>
          </a:prstGeom>
          <a:noFill/>
          <a:ln w="19050">
            <a:solidFill>
              <a:srgbClr val="3B4B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22224" y="678942"/>
            <a:ext cx="2339592" cy="237744"/>
          </a:xfrm>
          <a:prstGeom prst="roundRect">
            <a:avLst>
              <a:gd name="adj" fmla="val 30769"/>
            </a:avLst>
          </a:prstGeom>
          <a:solidFill>
            <a:srgbClr val="D55E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5671544" y="934403"/>
            <a:ext cx="2339592" cy="237744"/>
          </a:xfrm>
          <a:prstGeom prst="roundRect">
            <a:avLst>
              <a:gd name="adj" fmla="val 30769"/>
            </a:avLst>
          </a:prstGeom>
          <a:solidFill>
            <a:srgbClr val="D55E00"/>
          </a:solidFill>
          <a:ln/>
        </p:spPr>
      </p:sp>
      <p:sp>
        <p:nvSpPr>
          <p:cNvPr id="33" name="Shape 31"/>
          <p:cNvSpPr/>
          <p:nvPr/>
        </p:nvSpPr>
        <p:spPr>
          <a:xfrm>
            <a:off x="15561816" y="797814"/>
            <a:ext cx="109728" cy="255460"/>
          </a:xfrm>
          <a:prstGeom prst="line">
            <a:avLst/>
          </a:prstGeom>
          <a:noFill/>
          <a:ln w="50800">
            <a:solidFill>
              <a:srgbClr val="D55E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120864" y="1360170"/>
            <a:ext cx="2339592" cy="237744"/>
          </a:xfrm>
          <a:prstGeom prst="roundRect">
            <a:avLst>
              <a:gd name="adj" fmla="val 30769"/>
            </a:avLst>
          </a:prstGeom>
          <a:solidFill>
            <a:srgbClr val="D55E0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011136" y="1053275"/>
            <a:ext cx="109728" cy="425767"/>
          </a:xfrm>
          <a:prstGeom prst="line">
            <a:avLst/>
          </a:prstGeom>
          <a:noFill/>
          <a:ln w="50800">
            <a:solidFill>
              <a:srgbClr val="D55E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222224" y="1360170"/>
            <a:ext cx="2339592" cy="237744"/>
          </a:xfrm>
          <a:prstGeom prst="roundRect">
            <a:avLst>
              <a:gd name="adj" fmla="val 30769"/>
            </a:avLst>
          </a:prstGeom>
          <a:solidFill>
            <a:srgbClr val="56B4E9"/>
          </a:solidFill>
          <a:ln/>
        </p:spPr>
      </p:sp>
      <p:sp>
        <p:nvSpPr>
          <p:cNvPr id="37" name="Shape 35"/>
          <p:cNvSpPr/>
          <p:nvPr/>
        </p:nvSpPr>
        <p:spPr>
          <a:xfrm>
            <a:off x="15671544" y="1275017"/>
            <a:ext cx="2339592" cy="237744"/>
          </a:xfrm>
          <a:prstGeom prst="roundRect">
            <a:avLst>
              <a:gd name="adj" fmla="val 30769"/>
            </a:avLst>
          </a:prstGeom>
          <a:solidFill>
            <a:srgbClr val="56B4E9"/>
          </a:solidFill>
          <a:ln/>
        </p:spPr>
      </p:sp>
      <p:sp>
        <p:nvSpPr>
          <p:cNvPr id="38" name="Shape 36"/>
          <p:cNvSpPr/>
          <p:nvPr/>
        </p:nvSpPr>
        <p:spPr>
          <a:xfrm flipV="1">
            <a:off x="15561816" y="1393889"/>
            <a:ext cx="109728" cy="85153"/>
          </a:xfrm>
          <a:prstGeom prst="line">
            <a:avLst/>
          </a:prstGeom>
          <a:noFill/>
          <a:ln w="50800">
            <a:solidFill>
              <a:srgbClr val="56B4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120864" y="1104710"/>
            <a:ext cx="2339592" cy="237744"/>
          </a:xfrm>
          <a:prstGeom prst="roundRect">
            <a:avLst>
              <a:gd name="adj" fmla="val 30769"/>
            </a:avLst>
          </a:prstGeom>
          <a:solidFill>
            <a:srgbClr val="56B4E9"/>
          </a:solidFill>
          <a:ln/>
        </p:spPr>
      </p:sp>
      <p:sp>
        <p:nvSpPr>
          <p:cNvPr id="40" name="Shape 38"/>
          <p:cNvSpPr/>
          <p:nvPr/>
        </p:nvSpPr>
        <p:spPr>
          <a:xfrm flipV="1">
            <a:off x="18011136" y="1223582"/>
            <a:ext cx="109728" cy="170307"/>
          </a:xfrm>
          <a:prstGeom prst="line">
            <a:avLst/>
          </a:prstGeom>
          <a:noFill/>
          <a:ln w="50800">
            <a:solidFill>
              <a:srgbClr val="56B4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120864" y="2722626"/>
            <a:ext cx="2339592" cy="237744"/>
          </a:xfrm>
          <a:prstGeom prst="roundRect">
            <a:avLst>
              <a:gd name="adj" fmla="val 30769"/>
            </a:avLst>
          </a:prstGeom>
          <a:solidFill>
            <a:srgbClr val="009E73"/>
          </a:solidFill>
          <a:ln/>
        </p:spPr>
      </p:sp>
      <p:sp>
        <p:nvSpPr>
          <p:cNvPr id="42" name="Shape 40"/>
          <p:cNvSpPr/>
          <p:nvPr/>
        </p:nvSpPr>
        <p:spPr>
          <a:xfrm>
            <a:off x="685800" y="4343400"/>
            <a:ext cx="20012400" cy="1828800"/>
          </a:xfrm>
          <a:prstGeom prst="roundRect">
            <a:avLst>
              <a:gd name="adj" fmla="val 12500"/>
            </a:avLst>
          </a:prstGeom>
          <a:solidFill>
            <a:srgbClr val="FCEBB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234440" y="4343400"/>
            <a:ext cx="18915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music-AI tokenizers throw away which voice each note belongs to, so voice-leading can be neither modelled nor measured.</a:t>
            </a:r>
            <a:endParaRPr lang="en-US" sz="4600" dirty="0"/>
          </a:p>
        </p:txBody>
      </p:sp>
      <p:sp>
        <p:nvSpPr>
          <p:cNvPr id="44" name="Shape 42"/>
          <p:cNvSpPr/>
          <p:nvPr/>
        </p:nvSpPr>
        <p:spPr>
          <a:xfrm>
            <a:off x="3794760" y="6537960"/>
            <a:ext cx="6675120" cy="7086600"/>
          </a:xfrm>
          <a:prstGeom prst="roundRect">
            <a:avLst>
              <a:gd name="adj" fmla="val 3425"/>
            </a:avLst>
          </a:prstGeom>
          <a:solidFill>
            <a:srgbClr val="EEF2F7"/>
          </a:solidFill>
          <a:ln/>
        </p:spPr>
      </p:sp>
      <p:sp>
        <p:nvSpPr>
          <p:cNvPr id="45" name="Shape 43"/>
          <p:cNvSpPr/>
          <p:nvPr/>
        </p:nvSpPr>
        <p:spPr>
          <a:xfrm>
            <a:off x="4160520" y="6903720"/>
            <a:ext cx="640080" cy="64008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160520" y="6903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7" name="Text 45"/>
          <p:cNvSpPr txBox="1"/>
          <p:nvPr/>
        </p:nvSpPr>
        <p:spPr>
          <a:xfrm>
            <a:off x="5001768" y="6858000"/>
            <a:ext cx="5102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8" name="Text 46"/>
          <p:cNvSpPr txBox="1"/>
          <p:nvPr/>
        </p:nvSpPr>
        <p:spPr>
          <a:xfrm>
            <a:off x="4160520" y="7744968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read music as a flat stream of tokens. Scores say which line each note is on; tokenizers drop it and sort notes by pitch.</a:t>
            </a:r>
            <a:endParaRPr lang="en-US" sz="2400" dirty="0"/>
          </a:p>
        </p:txBody>
      </p:sp>
      <p:sp>
        <p:nvSpPr>
          <p:cNvPr id="49" name="Shape 47"/>
          <p:cNvSpPr/>
          <p:nvPr/>
        </p:nvSpPr>
        <p:spPr>
          <a:xfrm>
            <a:off x="4572000" y="9070848"/>
            <a:ext cx="5532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60080" y="9070848"/>
            <a:ext cx="1844040" cy="1325880"/>
          </a:xfrm>
          <a:prstGeom prst="rect">
            <a:avLst/>
          </a:prstGeom>
          <a:solidFill>
            <a:srgbClr val="FCEBB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160520" y="9020556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4617720" y="9111996"/>
            <a:ext cx="1752600" cy="182880"/>
          </a:xfrm>
          <a:prstGeom prst="roundRect">
            <a:avLst>
              <a:gd name="adj" fmla="val 25000"/>
            </a:avLst>
          </a:prstGeom>
          <a:solidFill>
            <a:srgbClr val="D55E00"/>
          </a:solidFill>
          <a:ln/>
        </p:spPr>
      </p:sp>
      <p:sp>
        <p:nvSpPr>
          <p:cNvPr id="53" name="Shape 51"/>
          <p:cNvSpPr/>
          <p:nvPr/>
        </p:nvSpPr>
        <p:spPr>
          <a:xfrm>
            <a:off x="6461760" y="9244584"/>
            <a:ext cx="1752600" cy="182880"/>
          </a:xfrm>
          <a:prstGeom prst="roundRect">
            <a:avLst>
              <a:gd name="adj" fmla="val 25000"/>
            </a:avLst>
          </a:prstGeom>
          <a:solidFill>
            <a:srgbClr val="D55E00"/>
          </a:solidFill>
          <a:ln/>
        </p:spPr>
      </p:sp>
      <p:sp>
        <p:nvSpPr>
          <p:cNvPr id="54" name="Shape 52"/>
          <p:cNvSpPr/>
          <p:nvPr/>
        </p:nvSpPr>
        <p:spPr>
          <a:xfrm>
            <a:off x="6370320" y="9203436"/>
            <a:ext cx="91440" cy="132588"/>
          </a:xfrm>
          <a:prstGeom prst="line">
            <a:avLst/>
          </a:prstGeom>
          <a:noFill/>
          <a:ln w="38100">
            <a:solidFill>
              <a:srgbClr val="D55E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05800" y="9465564"/>
            <a:ext cx="1752600" cy="182880"/>
          </a:xfrm>
          <a:prstGeom prst="roundRect">
            <a:avLst>
              <a:gd name="adj" fmla="val 25000"/>
            </a:avLst>
          </a:prstGeom>
          <a:solidFill>
            <a:srgbClr val="D55E00"/>
          </a:solidFill>
          <a:ln/>
        </p:spPr>
      </p:sp>
      <p:sp>
        <p:nvSpPr>
          <p:cNvPr id="56" name="Shape 54"/>
          <p:cNvSpPr/>
          <p:nvPr/>
        </p:nvSpPr>
        <p:spPr>
          <a:xfrm>
            <a:off x="8214360" y="9336024"/>
            <a:ext cx="91440" cy="220980"/>
          </a:xfrm>
          <a:prstGeom prst="line">
            <a:avLst/>
          </a:prstGeom>
          <a:noFill/>
          <a:ln w="38100">
            <a:solidFill>
              <a:srgbClr val="D55E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160520" y="9374124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4617720" y="9465564"/>
            <a:ext cx="1752600" cy="182880"/>
          </a:xfrm>
          <a:prstGeom prst="roundRect">
            <a:avLst>
              <a:gd name="adj" fmla="val 25000"/>
            </a:avLst>
          </a:prstGeom>
          <a:solidFill>
            <a:srgbClr val="0072B2"/>
          </a:solidFill>
          <a:ln/>
        </p:spPr>
      </p:sp>
      <p:sp>
        <p:nvSpPr>
          <p:cNvPr id="59" name="Shape 57"/>
          <p:cNvSpPr/>
          <p:nvPr/>
        </p:nvSpPr>
        <p:spPr>
          <a:xfrm>
            <a:off x="6461760" y="9421368"/>
            <a:ext cx="1752600" cy="182880"/>
          </a:xfrm>
          <a:prstGeom prst="roundRect">
            <a:avLst>
              <a:gd name="adj" fmla="val 25000"/>
            </a:avLst>
          </a:prstGeom>
          <a:solidFill>
            <a:srgbClr val="0072B2"/>
          </a:solidFill>
          <a:ln/>
        </p:spPr>
      </p:sp>
      <p:sp>
        <p:nvSpPr>
          <p:cNvPr id="60" name="Shape 58"/>
          <p:cNvSpPr/>
          <p:nvPr/>
        </p:nvSpPr>
        <p:spPr>
          <a:xfrm flipV="1">
            <a:off x="6370320" y="9512808"/>
            <a:ext cx="91440" cy="44196"/>
          </a:xfrm>
          <a:prstGeom prst="line">
            <a:avLst/>
          </a:prstGeom>
          <a:noFill/>
          <a:ln w="38100">
            <a:solidFill>
              <a:srgbClr val="0072B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05800" y="9332976"/>
            <a:ext cx="1752600" cy="182880"/>
          </a:xfrm>
          <a:prstGeom prst="roundRect">
            <a:avLst>
              <a:gd name="adj" fmla="val 25000"/>
            </a:avLst>
          </a:prstGeom>
          <a:solidFill>
            <a:srgbClr val="0072B2"/>
          </a:solidFill>
          <a:ln/>
        </p:spPr>
      </p:sp>
      <p:sp>
        <p:nvSpPr>
          <p:cNvPr id="62" name="Shape 60"/>
          <p:cNvSpPr/>
          <p:nvPr/>
        </p:nvSpPr>
        <p:spPr>
          <a:xfrm flipV="1">
            <a:off x="8214360" y="9424416"/>
            <a:ext cx="91440" cy="88392"/>
          </a:xfrm>
          <a:prstGeom prst="line">
            <a:avLst/>
          </a:prstGeom>
          <a:noFill/>
          <a:ln w="38100">
            <a:solidFill>
              <a:srgbClr val="0072B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160520" y="1008126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9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64" name="Shape 62"/>
          <p:cNvSpPr/>
          <p:nvPr/>
        </p:nvSpPr>
        <p:spPr>
          <a:xfrm>
            <a:off x="8305800" y="10172700"/>
            <a:ext cx="1752600" cy="182880"/>
          </a:xfrm>
          <a:prstGeom prst="roundRect">
            <a:avLst>
              <a:gd name="adj" fmla="val 25000"/>
            </a:avLst>
          </a:prstGeom>
          <a:solidFill>
            <a:srgbClr val="009E73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160520" y="107624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2600" dirty="0"/>
          </a:p>
        </p:txBody>
      </p:sp>
      <p:sp>
        <p:nvSpPr>
          <p:cNvPr id="66" name="Shape 64"/>
          <p:cNvSpPr/>
          <p:nvPr/>
        </p:nvSpPr>
        <p:spPr>
          <a:xfrm>
            <a:off x="4160520" y="11347704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1B2A41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160520" y="1134770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800" dirty="0"/>
          </a:p>
        </p:txBody>
      </p:sp>
      <p:sp>
        <p:nvSpPr>
          <p:cNvPr id="68" name="Text 66"/>
          <p:cNvSpPr txBox="1"/>
          <p:nvPr/>
        </p:nvSpPr>
        <p:spPr>
          <a:xfrm>
            <a:off x="5056632" y="11329416"/>
            <a:ext cx="5047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representations exist?</a:t>
            </a:r>
            <a:endParaRPr lang="en-US" sz="2200" dirty="0"/>
          </a:p>
        </p:txBody>
      </p:sp>
      <p:sp>
        <p:nvSpPr>
          <p:cNvPr id="69" name="Shape 67"/>
          <p:cNvSpPr/>
          <p:nvPr/>
        </p:nvSpPr>
        <p:spPr>
          <a:xfrm>
            <a:off x="4160520" y="11868912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1B2A41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160520" y="1186891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800" dirty="0"/>
          </a:p>
        </p:txBody>
      </p:sp>
      <p:sp>
        <p:nvSpPr>
          <p:cNvPr id="71" name="Text 69"/>
          <p:cNvSpPr txBox="1"/>
          <p:nvPr/>
        </p:nvSpPr>
        <p:spPr>
          <a:xfrm>
            <a:off x="5056632" y="11850624"/>
            <a:ext cx="5047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 they work, and how is that judged?</a:t>
            </a:r>
            <a:endParaRPr lang="en-US" sz="2200" dirty="0"/>
          </a:p>
        </p:txBody>
      </p:sp>
      <p:sp>
        <p:nvSpPr>
          <p:cNvPr id="72" name="Shape 70"/>
          <p:cNvSpPr/>
          <p:nvPr/>
        </p:nvSpPr>
        <p:spPr>
          <a:xfrm>
            <a:off x="4160520" y="12710160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1B2A41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4160520" y="127101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800" dirty="0"/>
          </a:p>
        </p:txBody>
      </p:sp>
      <p:sp>
        <p:nvSpPr>
          <p:cNvPr id="74" name="Text 72"/>
          <p:cNvSpPr txBox="1"/>
          <p:nvPr/>
        </p:nvSpPr>
        <p:spPr>
          <a:xfrm>
            <a:off x="5056632" y="12691872"/>
            <a:ext cx="5047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missing, and what are the ethical risks?</a:t>
            </a:r>
            <a:endParaRPr lang="en-US" sz="2200" dirty="0"/>
          </a:p>
        </p:txBody>
      </p:sp>
      <p:sp>
        <p:nvSpPr>
          <p:cNvPr id="75" name="Shape 73"/>
          <p:cNvSpPr/>
          <p:nvPr/>
        </p:nvSpPr>
        <p:spPr>
          <a:xfrm>
            <a:off x="3794760" y="14081760"/>
            <a:ext cx="6675120" cy="3977640"/>
          </a:xfrm>
          <a:prstGeom prst="roundRect">
            <a:avLst>
              <a:gd name="adj" fmla="val 5747"/>
            </a:avLst>
          </a:prstGeom>
          <a:solidFill>
            <a:srgbClr val="EEF2F7"/>
          </a:solidFill>
          <a:ln/>
        </p:spPr>
      </p:sp>
      <p:sp>
        <p:nvSpPr>
          <p:cNvPr id="76" name="Shape 74"/>
          <p:cNvSpPr/>
          <p:nvPr/>
        </p:nvSpPr>
        <p:spPr>
          <a:xfrm>
            <a:off x="4160520" y="14447520"/>
            <a:ext cx="640080" cy="64008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4160520" y="1444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78" name="Text 76"/>
          <p:cNvSpPr txBox="1"/>
          <p:nvPr/>
        </p:nvSpPr>
        <p:spPr>
          <a:xfrm>
            <a:off x="5001768" y="14401800"/>
            <a:ext cx="5102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review worked</a:t>
            </a:r>
            <a:endParaRPr lang="en-US" sz="3600" dirty="0"/>
          </a:p>
        </p:txBody>
      </p:sp>
      <p:sp>
        <p:nvSpPr>
          <p:cNvPr id="79" name="Text 77"/>
          <p:cNvSpPr txBox="1"/>
          <p:nvPr/>
        </p:nvSpPr>
        <p:spPr>
          <a:xfrm>
            <a:off x="4160520" y="1528876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 · IEEE Xplore, ACM DL, arXiv, ISMIR · Jan 2018 to Sep 2026</a:t>
            </a:r>
            <a:endParaRPr lang="en-US" sz="2000" dirty="0"/>
          </a:p>
        </p:txBody>
      </p:sp>
      <p:sp>
        <p:nvSpPr>
          <p:cNvPr id="80" name="Text 78"/>
          <p:cNvSpPr txBox="1"/>
          <p:nvPr/>
        </p:nvSpPr>
        <p:spPr>
          <a:xfrm>
            <a:off x="4160520" y="1603857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</a:t>
            </a:r>
            <a:endParaRPr lang="en-US" sz="2400" dirty="0"/>
          </a:p>
        </p:txBody>
      </p:sp>
      <p:sp>
        <p:nvSpPr>
          <p:cNvPr id="81" name="Shape 79"/>
          <p:cNvSpPr/>
          <p:nvPr/>
        </p:nvSpPr>
        <p:spPr>
          <a:xfrm>
            <a:off x="5166360" y="16038576"/>
            <a:ext cx="4937760" cy="384048"/>
          </a:xfrm>
          <a:prstGeom prst="roundRect">
            <a:avLst>
              <a:gd name="adj" fmla="val 14286"/>
            </a:avLst>
          </a:prstGeom>
          <a:solidFill>
            <a:srgbClr val="5E7292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5303520" y="160385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2000" dirty="0"/>
          </a:p>
        </p:txBody>
      </p:sp>
      <p:sp>
        <p:nvSpPr>
          <p:cNvPr id="83" name="Text 81"/>
          <p:cNvSpPr txBox="1"/>
          <p:nvPr/>
        </p:nvSpPr>
        <p:spPr>
          <a:xfrm>
            <a:off x="4160520" y="165323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2400" dirty="0"/>
          </a:p>
        </p:txBody>
      </p:sp>
      <p:sp>
        <p:nvSpPr>
          <p:cNvPr id="84" name="Shape 82"/>
          <p:cNvSpPr/>
          <p:nvPr/>
        </p:nvSpPr>
        <p:spPr>
          <a:xfrm>
            <a:off x="5166360" y="16532352"/>
            <a:ext cx="4583114" cy="384048"/>
          </a:xfrm>
          <a:prstGeom prst="roundRect">
            <a:avLst>
              <a:gd name="adj" fmla="val 14286"/>
            </a:avLst>
          </a:prstGeom>
          <a:solidFill>
            <a:srgbClr val="5E7292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5303520" y="165323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</a:t>
            </a:r>
            <a:endParaRPr lang="en-US" sz="2000" dirty="0"/>
          </a:p>
        </p:txBody>
      </p:sp>
      <p:sp>
        <p:nvSpPr>
          <p:cNvPr id="86" name="Text 84"/>
          <p:cNvSpPr txBox="1"/>
          <p:nvPr/>
        </p:nvSpPr>
        <p:spPr>
          <a:xfrm>
            <a:off x="4160520" y="170261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2400" dirty="0"/>
          </a:p>
        </p:txBody>
      </p:sp>
      <p:sp>
        <p:nvSpPr>
          <p:cNvPr id="87" name="Shape 85"/>
          <p:cNvSpPr/>
          <p:nvPr/>
        </p:nvSpPr>
        <p:spPr>
          <a:xfrm>
            <a:off x="5166360" y="17026128"/>
            <a:ext cx="4092066" cy="384048"/>
          </a:xfrm>
          <a:prstGeom prst="roundRect">
            <a:avLst>
              <a:gd name="adj" fmla="val 14286"/>
            </a:avLst>
          </a:prstGeom>
          <a:solidFill>
            <a:srgbClr val="5E7292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5303520" y="1702612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texts read</a:t>
            </a:r>
            <a:endParaRPr lang="en-US" sz="2000" dirty="0"/>
          </a:p>
        </p:txBody>
      </p:sp>
      <p:sp>
        <p:nvSpPr>
          <p:cNvPr id="89" name="Text 87"/>
          <p:cNvSpPr txBox="1"/>
          <p:nvPr/>
        </p:nvSpPr>
        <p:spPr>
          <a:xfrm>
            <a:off x="4160520" y="1751990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400" dirty="0"/>
          </a:p>
        </p:txBody>
      </p:sp>
      <p:sp>
        <p:nvSpPr>
          <p:cNvPr id="90" name="Shape 88"/>
          <p:cNvSpPr/>
          <p:nvPr/>
        </p:nvSpPr>
        <p:spPr>
          <a:xfrm>
            <a:off x="5166360" y="17519904"/>
            <a:ext cx="763852" cy="384048"/>
          </a:xfrm>
          <a:prstGeom prst="roundRect">
            <a:avLst>
              <a:gd name="adj" fmla="val 14286"/>
            </a:avLst>
          </a:prstGeom>
          <a:solidFill>
            <a:srgbClr val="E0B43C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6067372" y="17519904"/>
            <a:ext cx="4036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2000" dirty="0"/>
          </a:p>
        </p:txBody>
      </p:sp>
      <p:sp>
        <p:nvSpPr>
          <p:cNvPr id="92" name="Shape 90"/>
          <p:cNvSpPr/>
          <p:nvPr/>
        </p:nvSpPr>
        <p:spPr>
          <a:xfrm>
            <a:off x="10927080" y="6537960"/>
            <a:ext cx="9771120" cy="11521440"/>
          </a:xfrm>
          <a:prstGeom prst="roundRect">
            <a:avLst>
              <a:gd name="adj" fmla="val 2340"/>
            </a:avLst>
          </a:prstGeom>
          <a:solidFill>
            <a:srgbClr val="EEF2F7"/>
          </a:solidFill>
          <a:ln/>
        </p:spPr>
      </p:sp>
      <p:sp>
        <p:nvSpPr>
          <p:cNvPr id="93" name="Shape 91"/>
          <p:cNvSpPr/>
          <p:nvPr/>
        </p:nvSpPr>
        <p:spPr>
          <a:xfrm>
            <a:off x="11292840" y="6903720"/>
            <a:ext cx="640080" cy="64008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11292840" y="6903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95" name="Text 93"/>
          <p:cNvSpPr txBox="1"/>
          <p:nvPr/>
        </p:nvSpPr>
        <p:spPr>
          <a:xfrm>
            <a:off x="12134088" y="6858000"/>
            <a:ext cx="819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review found</a:t>
            </a:r>
            <a:endParaRPr lang="en-US" sz="3600" dirty="0"/>
          </a:p>
        </p:txBody>
      </p:sp>
      <p:sp>
        <p:nvSpPr>
          <p:cNvPr id="96" name="Text 94"/>
          <p:cNvSpPr txBox="1"/>
          <p:nvPr/>
        </p:nvSpPr>
        <p:spPr>
          <a:xfrm>
            <a:off x="11292840" y="7744968"/>
            <a:ext cx="903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28 studies fall into five main families. None gives the model a note's voice as an input; text formats mark only staffs or tracks.</a:t>
            </a:r>
            <a:endParaRPr lang="en-US" sz="2400" dirty="0"/>
          </a:p>
        </p:txBody>
      </p:sp>
      <p:sp>
        <p:nvSpPr>
          <p:cNvPr id="97" name="Shape 95"/>
          <p:cNvSpPr/>
          <p:nvPr/>
        </p:nvSpPr>
        <p:spPr>
          <a:xfrm>
            <a:off x="11292840" y="9052560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1B2A41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11292840" y="90525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800" dirty="0"/>
          </a:p>
        </p:txBody>
      </p:sp>
      <p:sp>
        <p:nvSpPr>
          <p:cNvPr id="99" name="Text 97"/>
          <p:cNvSpPr txBox="1"/>
          <p:nvPr/>
        </p:nvSpPr>
        <p:spPr>
          <a:xfrm>
            <a:off x="13898880" y="8933688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900" dirty="0"/>
          </a:p>
        </p:txBody>
      </p:sp>
      <p:sp>
        <p:nvSpPr>
          <p:cNvPr id="100" name="Text 98"/>
          <p:cNvSpPr txBox="1"/>
          <p:nvPr/>
        </p:nvSpPr>
        <p:spPr>
          <a:xfrm>
            <a:off x="15185592" y="8933688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1900" dirty="0"/>
          </a:p>
        </p:txBody>
      </p:sp>
      <p:sp>
        <p:nvSpPr>
          <p:cNvPr id="101" name="Text 99"/>
          <p:cNvSpPr txBox="1"/>
          <p:nvPr/>
        </p:nvSpPr>
        <p:spPr>
          <a:xfrm>
            <a:off x="16472304" y="8933688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</a:t>
            </a:r>
            <a:endParaRPr lang="en-US" sz="1900" dirty="0"/>
          </a:p>
        </p:txBody>
      </p:sp>
      <p:sp>
        <p:nvSpPr>
          <p:cNvPr id="102" name="Text 100"/>
          <p:cNvSpPr txBox="1"/>
          <p:nvPr/>
        </p:nvSpPr>
        <p:spPr>
          <a:xfrm>
            <a:off x="17759016" y="8933688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900" dirty="0"/>
          </a:p>
        </p:txBody>
      </p:sp>
      <p:sp>
        <p:nvSpPr>
          <p:cNvPr id="103" name="Text 101"/>
          <p:cNvSpPr txBox="1"/>
          <p:nvPr/>
        </p:nvSpPr>
        <p:spPr>
          <a:xfrm>
            <a:off x="19045728" y="8933688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900" dirty="0"/>
          </a:p>
        </p:txBody>
      </p:sp>
      <p:sp>
        <p:nvSpPr>
          <p:cNvPr id="104" name="Text 102"/>
          <p:cNvSpPr txBox="1"/>
          <p:nvPr/>
        </p:nvSpPr>
        <p:spPr>
          <a:xfrm>
            <a:off x="11292840" y="955548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Metrical stability</a:t>
            </a:r>
            <a:endParaRPr lang="en-US" sz="1900" dirty="0"/>
          </a:p>
        </p:txBody>
      </p:sp>
      <p:sp>
        <p:nvSpPr>
          <p:cNvPr id="105" name="Shape 103"/>
          <p:cNvSpPr/>
          <p:nvPr/>
        </p:nvSpPr>
        <p:spPr>
          <a:xfrm>
            <a:off x="13926312" y="9582912"/>
            <a:ext cx="1231848" cy="566928"/>
          </a:xfrm>
          <a:prstGeom prst="rect">
            <a:avLst/>
          </a:prstGeom>
          <a:solidFill>
            <a:srgbClr val="BAC5D6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13898880" y="9555480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800" dirty="0"/>
          </a:p>
        </p:txBody>
      </p:sp>
      <p:sp>
        <p:nvSpPr>
          <p:cNvPr id="107" name="Shape 105"/>
          <p:cNvSpPr/>
          <p:nvPr/>
        </p:nvSpPr>
        <p:spPr>
          <a:xfrm>
            <a:off x="15213024" y="9582912"/>
            <a:ext cx="1231848" cy="56692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5185592" y="9555480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800" dirty="0"/>
          </a:p>
        </p:txBody>
      </p:sp>
      <p:sp>
        <p:nvSpPr>
          <p:cNvPr id="109" name="Shape 107"/>
          <p:cNvSpPr/>
          <p:nvPr/>
        </p:nvSpPr>
        <p:spPr>
          <a:xfrm>
            <a:off x="16499736" y="9582912"/>
            <a:ext cx="1231848" cy="56692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16472304" y="9555480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800" dirty="0"/>
          </a:p>
        </p:txBody>
      </p:sp>
      <p:sp>
        <p:nvSpPr>
          <p:cNvPr id="111" name="Shape 109"/>
          <p:cNvSpPr/>
          <p:nvPr/>
        </p:nvSpPr>
        <p:spPr>
          <a:xfrm>
            <a:off x="17786448" y="9582912"/>
            <a:ext cx="1231848" cy="56692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17759016" y="9555480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800" dirty="0"/>
          </a:p>
        </p:txBody>
      </p:sp>
      <p:sp>
        <p:nvSpPr>
          <p:cNvPr id="113" name="Shape 111"/>
          <p:cNvSpPr/>
          <p:nvPr/>
        </p:nvSpPr>
        <p:spPr>
          <a:xfrm>
            <a:off x="19073160" y="9582912"/>
            <a:ext cx="1231848" cy="56692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19045728" y="9555480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800" dirty="0"/>
          </a:p>
        </p:txBody>
      </p:sp>
      <p:sp>
        <p:nvSpPr>
          <p:cNvPr id="115" name="Text 113"/>
          <p:cNvSpPr txBox="1"/>
          <p:nvPr/>
        </p:nvSpPr>
        <p:spPr>
          <a:xfrm>
            <a:off x="11292840" y="1017727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economy</a:t>
            </a:r>
            <a:endParaRPr lang="en-US" sz="1900" dirty="0"/>
          </a:p>
        </p:txBody>
      </p:sp>
      <p:sp>
        <p:nvSpPr>
          <p:cNvPr id="116" name="Shape 114"/>
          <p:cNvSpPr/>
          <p:nvPr/>
        </p:nvSpPr>
        <p:spPr>
          <a:xfrm>
            <a:off x="13926312" y="10204704"/>
            <a:ext cx="1231848" cy="566928"/>
          </a:xfrm>
          <a:prstGeom prst="rect">
            <a:avLst/>
          </a:prstGeom>
          <a:solidFill>
            <a:srgbClr val="5E7292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13898880" y="10177272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800" dirty="0"/>
          </a:p>
        </p:txBody>
      </p:sp>
      <p:sp>
        <p:nvSpPr>
          <p:cNvPr id="118" name="Shape 116"/>
          <p:cNvSpPr/>
          <p:nvPr/>
        </p:nvSpPr>
        <p:spPr>
          <a:xfrm>
            <a:off x="15213024" y="10204704"/>
            <a:ext cx="1231848" cy="566928"/>
          </a:xfrm>
          <a:prstGeom prst="rect">
            <a:avLst/>
          </a:prstGeom>
          <a:solidFill>
            <a:srgbClr val="BAC5D6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15185592" y="10177272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800" dirty="0"/>
          </a:p>
        </p:txBody>
      </p:sp>
      <p:sp>
        <p:nvSpPr>
          <p:cNvPr id="120" name="Shape 118"/>
          <p:cNvSpPr/>
          <p:nvPr/>
        </p:nvSpPr>
        <p:spPr>
          <a:xfrm>
            <a:off x="16499736" y="10204704"/>
            <a:ext cx="1231848" cy="56692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21" name="Text 119"/>
          <p:cNvSpPr txBox="1"/>
          <p:nvPr/>
        </p:nvSpPr>
        <p:spPr>
          <a:xfrm>
            <a:off x="16472304" y="10177272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800" dirty="0"/>
          </a:p>
        </p:txBody>
      </p:sp>
      <p:sp>
        <p:nvSpPr>
          <p:cNvPr id="122" name="Shape 120"/>
          <p:cNvSpPr/>
          <p:nvPr/>
        </p:nvSpPr>
        <p:spPr>
          <a:xfrm>
            <a:off x="17786448" y="10204704"/>
            <a:ext cx="1231848" cy="56692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17759016" y="10177272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800" dirty="0"/>
          </a:p>
        </p:txBody>
      </p:sp>
      <p:sp>
        <p:nvSpPr>
          <p:cNvPr id="124" name="Shape 122"/>
          <p:cNvSpPr/>
          <p:nvPr/>
        </p:nvSpPr>
        <p:spPr>
          <a:xfrm>
            <a:off x="19073160" y="10204704"/>
            <a:ext cx="1231848" cy="566928"/>
          </a:xfrm>
          <a:prstGeom prst="rect">
            <a:avLst/>
          </a:prstGeom>
          <a:solidFill>
            <a:srgbClr val="5E7292"/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19045728" y="10177272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800" dirty="0"/>
          </a:p>
        </p:txBody>
      </p:sp>
      <p:sp>
        <p:nvSpPr>
          <p:cNvPr id="126" name="Text 124"/>
          <p:cNvSpPr txBox="1"/>
          <p:nvPr/>
        </p:nvSpPr>
        <p:spPr>
          <a:xfrm>
            <a:off x="11292840" y="1079906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Expressive timing</a:t>
            </a:r>
            <a:endParaRPr lang="en-US" sz="1900" dirty="0"/>
          </a:p>
        </p:txBody>
      </p:sp>
      <p:sp>
        <p:nvSpPr>
          <p:cNvPr id="127" name="Shape 125"/>
          <p:cNvSpPr/>
          <p:nvPr/>
        </p:nvSpPr>
        <p:spPr>
          <a:xfrm>
            <a:off x="13926312" y="10826496"/>
            <a:ext cx="1231848" cy="56692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13898880" y="10799064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800" dirty="0"/>
          </a:p>
        </p:txBody>
      </p:sp>
      <p:sp>
        <p:nvSpPr>
          <p:cNvPr id="129" name="Shape 127"/>
          <p:cNvSpPr/>
          <p:nvPr/>
        </p:nvSpPr>
        <p:spPr>
          <a:xfrm>
            <a:off x="15213024" y="10826496"/>
            <a:ext cx="1231848" cy="566928"/>
          </a:xfrm>
          <a:prstGeom prst="rect">
            <a:avLst/>
          </a:prstGeom>
          <a:solidFill>
            <a:srgbClr val="BAC5D6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15185592" y="10799064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800" dirty="0"/>
          </a:p>
        </p:txBody>
      </p:sp>
      <p:sp>
        <p:nvSpPr>
          <p:cNvPr id="131" name="Shape 129"/>
          <p:cNvSpPr/>
          <p:nvPr/>
        </p:nvSpPr>
        <p:spPr>
          <a:xfrm>
            <a:off x="16499736" y="10826496"/>
            <a:ext cx="1231848" cy="566928"/>
          </a:xfrm>
          <a:prstGeom prst="rect">
            <a:avLst/>
          </a:prstGeom>
          <a:solidFill>
            <a:srgbClr val="5E7292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16472304" y="10799064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800" dirty="0"/>
          </a:p>
        </p:txBody>
      </p:sp>
      <p:sp>
        <p:nvSpPr>
          <p:cNvPr id="133" name="Shape 131"/>
          <p:cNvSpPr/>
          <p:nvPr/>
        </p:nvSpPr>
        <p:spPr>
          <a:xfrm>
            <a:off x="17786448" y="10826496"/>
            <a:ext cx="1231848" cy="566928"/>
          </a:xfrm>
          <a:prstGeom prst="rect">
            <a:avLst/>
          </a:prstGeom>
          <a:solidFill>
            <a:srgbClr val="BAC5D6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17759016" y="10799064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800" dirty="0"/>
          </a:p>
        </p:txBody>
      </p:sp>
      <p:sp>
        <p:nvSpPr>
          <p:cNvPr id="135" name="Shape 133"/>
          <p:cNvSpPr/>
          <p:nvPr/>
        </p:nvSpPr>
        <p:spPr>
          <a:xfrm>
            <a:off x="19073160" y="10826496"/>
            <a:ext cx="1231848" cy="566928"/>
          </a:xfrm>
          <a:prstGeom prst="rect">
            <a:avLst/>
          </a:prstGeom>
          <a:solidFill>
            <a:srgbClr val="BAC5D6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19045728" y="10799064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800" dirty="0"/>
          </a:p>
        </p:txBody>
      </p:sp>
      <p:sp>
        <p:nvSpPr>
          <p:cNvPr id="137" name="Text 135"/>
          <p:cNvSpPr txBox="1"/>
          <p:nvPr/>
        </p:nvSpPr>
        <p:spPr>
          <a:xfrm>
            <a:off x="11292840" y="1142085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Multi-track control</a:t>
            </a:r>
            <a:endParaRPr lang="en-US" sz="1900" dirty="0"/>
          </a:p>
        </p:txBody>
      </p:sp>
      <p:sp>
        <p:nvSpPr>
          <p:cNvPr id="138" name="Shape 136"/>
          <p:cNvSpPr/>
          <p:nvPr/>
        </p:nvSpPr>
        <p:spPr>
          <a:xfrm>
            <a:off x="13926312" y="11448288"/>
            <a:ext cx="12318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13898880" y="11420856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1800" dirty="0"/>
          </a:p>
        </p:txBody>
      </p:sp>
      <p:sp>
        <p:nvSpPr>
          <p:cNvPr id="140" name="Shape 138"/>
          <p:cNvSpPr/>
          <p:nvPr/>
        </p:nvSpPr>
        <p:spPr>
          <a:xfrm>
            <a:off x="15213024" y="11448288"/>
            <a:ext cx="1231848" cy="566928"/>
          </a:xfrm>
          <a:prstGeom prst="rect">
            <a:avLst/>
          </a:prstGeom>
          <a:solidFill>
            <a:srgbClr val="BAC5D6"/>
          </a:solidFill>
          <a:ln/>
        </p:spPr>
      </p:sp>
      <p:sp>
        <p:nvSpPr>
          <p:cNvPr id="141" name="Text 139"/>
          <p:cNvSpPr txBox="1"/>
          <p:nvPr/>
        </p:nvSpPr>
        <p:spPr>
          <a:xfrm>
            <a:off x="15185592" y="11420856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800" dirty="0"/>
          </a:p>
        </p:txBody>
      </p:sp>
      <p:sp>
        <p:nvSpPr>
          <p:cNvPr id="142" name="Shape 140"/>
          <p:cNvSpPr/>
          <p:nvPr/>
        </p:nvSpPr>
        <p:spPr>
          <a:xfrm>
            <a:off x="16499736" y="11448288"/>
            <a:ext cx="1231848" cy="56692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16472304" y="11420856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800" dirty="0"/>
          </a:p>
        </p:txBody>
      </p:sp>
      <p:sp>
        <p:nvSpPr>
          <p:cNvPr id="144" name="Shape 142"/>
          <p:cNvSpPr/>
          <p:nvPr/>
        </p:nvSpPr>
        <p:spPr>
          <a:xfrm>
            <a:off x="17786448" y="11448288"/>
            <a:ext cx="1231848" cy="566928"/>
          </a:xfrm>
          <a:prstGeom prst="rect">
            <a:avLst/>
          </a:prstGeom>
          <a:solidFill>
            <a:srgbClr val="BAC5D6"/>
          </a:solidFill>
          <a:ln/>
        </p:spPr>
      </p:sp>
      <p:sp>
        <p:nvSpPr>
          <p:cNvPr id="145" name="Text 143"/>
          <p:cNvSpPr txBox="1"/>
          <p:nvPr/>
        </p:nvSpPr>
        <p:spPr>
          <a:xfrm>
            <a:off x="17759016" y="11420856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800" dirty="0"/>
          </a:p>
        </p:txBody>
      </p:sp>
      <p:sp>
        <p:nvSpPr>
          <p:cNvPr id="146" name="Shape 144"/>
          <p:cNvSpPr/>
          <p:nvPr/>
        </p:nvSpPr>
        <p:spPr>
          <a:xfrm>
            <a:off x="19073160" y="11448288"/>
            <a:ext cx="1231848" cy="56692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47" name="Text 145"/>
          <p:cNvSpPr txBox="1"/>
          <p:nvPr/>
        </p:nvSpPr>
        <p:spPr>
          <a:xfrm>
            <a:off x="19045728" y="11420856"/>
            <a:ext cx="1286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800" dirty="0"/>
          </a:p>
        </p:txBody>
      </p:sp>
      <p:sp>
        <p:nvSpPr>
          <p:cNvPr id="148" name="Text 146"/>
          <p:cNvSpPr txBox="1"/>
          <p:nvPr/>
        </p:nvSpPr>
        <p:spPr>
          <a:xfrm>
            <a:off x="11292840" y="12088368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Voice-leading quality</a:t>
            </a:r>
            <a:endParaRPr lang="en-US" sz="1900" dirty="0"/>
          </a:p>
        </p:txBody>
      </p:sp>
      <p:sp>
        <p:nvSpPr>
          <p:cNvPr id="149" name="Shape 147"/>
          <p:cNvSpPr/>
          <p:nvPr/>
        </p:nvSpPr>
        <p:spPr>
          <a:xfrm>
            <a:off x="13926312" y="12115800"/>
            <a:ext cx="6378696" cy="658368"/>
          </a:xfrm>
          <a:prstGeom prst="rect">
            <a:avLst/>
          </a:prstGeom>
          <a:solidFill>
            <a:srgbClr val="FCEBB6"/>
          </a:solidFill>
          <a:ln w="31750">
            <a:solidFill>
              <a:srgbClr val="E0B43C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13898880" y="12088368"/>
            <a:ext cx="6433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 by any included study</a:t>
            </a:r>
            <a:endParaRPr lang="en-US" sz="2100" dirty="0"/>
          </a:p>
        </p:txBody>
      </p:sp>
      <p:sp>
        <p:nvSpPr>
          <p:cNvPr id="151" name="Shape 149"/>
          <p:cNvSpPr/>
          <p:nvPr/>
        </p:nvSpPr>
        <p:spPr>
          <a:xfrm>
            <a:off x="11292840" y="13103352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1B2A41"/>
          </a:solidFill>
          <a:ln/>
        </p:spPr>
      </p:sp>
      <p:sp>
        <p:nvSpPr>
          <p:cNvPr id="152" name="Text 150"/>
          <p:cNvSpPr txBox="1"/>
          <p:nvPr/>
        </p:nvSpPr>
        <p:spPr>
          <a:xfrm>
            <a:off x="11292840" y="131033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800" dirty="0"/>
          </a:p>
        </p:txBody>
      </p:sp>
      <p:sp>
        <p:nvSpPr>
          <p:cNvPr id="153" name="Text 151"/>
          <p:cNvSpPr txBox="1"/>
          <p:nvPr/>
        </p:nvSpPr>
        <p:spPr>
          <a:xfrm>
            <a:off x="12188952" y="13075920"/>
            <a:ext cx="8143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solved: </a:t>
            </a:r>
            <a:pPr algn="l" indent="0" marL="0">
              <a:buNone/>
            </a:pPr>
            <a:r>
              <a:rPr lang="en-US" sz="22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beat, short sequences (compound tokens).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solved: </a:t>
            </a:r>
            <a:pPr algn="l" indent="0" marL="0">
              <a:buNone/>
            </a:pPr>
            <a:r>
              <a:rPr lang="en-US" sz="22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pieces (attention reaches 8,192+ tokens).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</a:t>
            </a:r>
            <a:pPr algn="l" indent="0" marL="0">
              <a:buNone/>
            </a:pPr>
            <a:r>
              <a:rPr lang="en-US" sz="22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voice-leading; no representation carries the line it needs.</a:t>
            </a:r>
            <a:endParaRPr lang="en-US" sz="2200" dirty="0"/>
          </a:p>
        </p:txBody>
      </p:sp>
      <p:sp>
        <p:nvSpPr>
          <p:cNvPr id="154" name="Shape 152"/>
          <p:cNvSpPr/>
          <p:nvPr/>
        </p:nvSpPr>
        <p:spPr>
          <a:xfrm>
            <a:off x="11292840" y="14712696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1B2A41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11292840" y="1471269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800" dirty="0"/>
          </a:p>
        </p:txBody>
      </p:sp>
      <p:sp>
        <p:nvSpPr>
          <p:cNvPr id="156" name="Text 154"/>
          <p:cNvSpPr txBox="1"/>
          <p:nvPr/>
        </p:nvSpPr>
        <p:spPr>
          <a:xfrm>
            <a:off x="12188952" y="14676120"/>
            <a:ext cx="8143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research gaps</a:t>
            </a:r>
            <a:endParaRPr lang="en-US" sz="2600" dirty="0"/>
          </a:p>
        </p:txBody>
      </p:sp>
      <p:sp>
        <p:nvSpPr>
          <p:cNvPr id="157" name="Shape 155"/>
          <p:cNvSpPr/>
          <p:nvPr/>
        </p:nvSpPr>
        <p:spPr>
          <a:xfrm>
            <a:off x="11292840" y="15270480"/>
            <a:ext cx="2903472" cy="1005840"/>
          </a:xfrm>
          <a:prstGeom prst="roundRect">
            <a:avLst>
              <a:gd name="adj" fmla="val 10909"/>
            </a:avLst>
          </a:prstGeom>
          <a:solidFill>
            <a:srgbClr val="FCEBB6"/>
          </a:solidFill>
          <a:ln w="31750">
            <a:solidFill>
              <a:srgbClr val="E0B43C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11439144" y="15270480"/>
            <a:ext cx="261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 </a:t>
            </a:r>
            <a:pPr algn="l" indent="0" marL="0">
              <a:buNone/>
            </a:pPr>
            <a:r>
              <a:rPr lang="en-US" sz="19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missing from tokenizer inputs</a:t>
            </a:r>
            <a:endParaRPr lang="en-US" sz="1900" dirty="0"/>
          </a:p>
        </p:txBody>
      </p:sp>
      <p:sp>
        <p:nvSpPr>
          <p:cNvPr id="159" name="Shape 157"/>
          <p:cNvSpPr/>
          <p:nvPr/>
        </p:nvSpPr>
        <p:spPr>
          <a:xfrm>
            <a:off x="14360904" y="15270480"/>
            <a:ext cx="2903472" cy="1005840"/>
          </a:xfrm>
          <a:prstGeom prst="roundRect">
            <a:avLst>
              <a:gd name="adj" fmla="val 10909"/>
            </a:avLst>
          </a:prstGeom>
          <a:solidFill>
            <a:srgbClr val="FCEBB6"/>
          </a:solidFill>
          <a:ln w="31750">
            <a:solidFill>
              <a:srgbClr val="E0B43C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14507208" y="15270480"/>
            <a:ext cx="261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 </a:t>
            </a:r>
            <a:pPr algn="l" indent="0" marL="0">
              <a:buNone/>
            </a:pPr>
            <a:r>
              <a:rPr lang="en-US" sz="19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ordered by pitch, not by line</a:t>
            </a:r>
            <a:endParaRPr lang="en-US" sz="1900" dirty="0"/>
          </a:p>
        </p:txBody>
      </p:sp>
      <p:sp>
        <p:nvSpPr>
          <p:cNvPr id="161" name="Shape 159"/>
          <p:cNvSpPr/>
          <p:nvPr/>
        </p:nvSpPr>
        <p:spPr>
          <a:xfrm>
            <a:off x="17428968" y="15270480"/>
            <a:ext cx="290347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17575272" y="15270480"/>
            <a:ext cx="261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 </a:t>
            </a:r>
            <a:pPr algn="l" indent="0" marL="0">
              <a:buNone/>
            </a:pPr>
            <a:r>
              <a:rPr lang="en-US" sz="19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agreed evaluation method</a:t>
            </a:r>
            <a:endParaRPr lang="en-US" sz="1900" dirty="0"/>
          </a:p>
        </p:txBody>
      </p:sp>
      <p:sp>
        <p:nvSpPr>
          <p:cNvPr id="163" name="Shape 161"/>
          <p:cNvSpPr/>
          <p:nvPr/>
        </p:nvSpPr>
        <p:spPr>
          <a:xfrm>
            <a:off x="11292840" y="16440912"/>
            <a:ext cx="2903472" cy="1005840"/>
          </a:xfrm>
          <a:prstGeom prst="roundRect">
            <a:avLst>
              <a:gd name="adj" fmla="val 10909"/>
            </a:avLst>
          </a:prstGeom>
          <a:solidFill>
            <a:srgbClr val="FCEBB6"/>
          </a:solidFill>
          <a:ln w="31750">
            <a:solidFill>
              <a:srgbClr val="E0B43C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11439144" y="16440912"/>
            <a:ext cx="261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 </a:t>
            </a:r>
            <a:pPr algn="l" indent="0" marL="0">
              <a:buNone/>
            </a:pPr>
            <a:r>
              <a:rPr lang="en-US" sz="19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Voice-leading cannot be measured</a:t>
            </a:r>
            <a:endParaRPr lang="en-US" sz="1900" dirty="0"/>
          </a:p>
        </p:txBody>
      </p:sp>
      <p:sp>
        <p:nvSpPr>
          <p:cNvPr id="165" name="Shape 163"/>
          <p:cNvSpPr/>
          <p:nvPr/>
        </p:nvSpPr>
        <p:spPr>
          <a:xfrm>
            <a:off x="14360904" y="16440912"/>
            <a:ext cx="290347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14507208" y="16440912"/>
            <a:ext cx="261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  </a:t>
            </a:r>
            <a:pPr algn="l" indent="0" marL="0">
              <a:buNone/>
            </a:pPr>
            <a:r>
              <a:rPr lang="en-US" sz="19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poorly licensed corpora</a:t>
            </a:r>
            <a:endParaRPr lang="en-US" sz="1900" dirty="0"/>
          </a:p>
        </p:txBody>
      </p:sp>
      <p:sp>
        <p:nvSpPr>
          <p:cNvPr id="167" name="Shape 165"/>
          <p:cNvSpPr/>
          <p:nvPr/>
        </p:nvSpPr>
        <p:spPr>
          <a:xfrm>
            <a:off x="17428968" y="16440912"/>
            <a:ext cx="290347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17575272" y="16440912"/>
            <a:ext cx="261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 </a:t>
            </a:r>
            <a:pPr algn="l" indent="0" marL="0">
              <a:buNone/>
            </a:pPr>
            <a:r>
              <a:rPr lang="en-US" sz="1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Song-length form (not addressed)</a:t>
            </a:r>
            <a:endParaRPr lang="en-US" sz="1900" dirty="0"/>
          </a:p>
        </p:txBody>
      </p:sp>
      <p:sp>
        <p:nvSpPr>
          <p:cNvPr id="169" name="Shape 167"/>
          <p:cNvSpPr/>
          <p:nvPr/>
        </p:nvSpPr>
        <p:spPr>
          <a:xfrm>
            <a:off x="3794760" y="18516600"/>
            <a:ext cx="16903440" cy="6949440"/>
          </a:xfrm>
          <a:prstGeom prst="roundRect">
            <a:avLst>
              <a:gd name="adj" fmla="val 3289"/>
            </a:avLst>
          </a:prstGeom>
          <a:solidFill>
            <a:srgbClr val="EEF2F7"/>
          </a:solidFill>
          <a:ln/>
        </p:spPr>
      </p:sp>
      <p:sp>
        <p:nvSpPr>
          <p:cNvPr id="170" name="Shape 168"/>
          <p:cNvSpPr/>
          <p:nvPr/>
        </p:nvSpPr>
        <p:spPr>
          <a:xfrm>
            <a:off x="4160520" y="18882360"/>
            <a:ext cx="640080" cy="64008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4160520" y="18882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72" name="Text 170"/>
          <p:cNvSpPr txBox="1"/>
          <p:nvPr/>
        </p:nvSpPr>
        <p:spPr>
          <a:xfrm>
            <a:off x="5001768" y="18836640"/>
            <a:ext cx="1533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CANTUS: make the voice part of every note token</a:t>
            </a:r>
            <a:endParaRPr lang="en-US" sz="3600" dirty="0"/>
          </a:p>
        </p:txBody>
      </p:sp>
      <p:sp>
        <p:nvSpPr>
          <p:cNvPr id="173" name="Text 171"/>
          <p:cNvSpPr txBox="1"/>
          <p:nvPr/>
        </p:nvSpPr>
        <p:spPr>
          <a:xfrm>
            <a:off x="4160520" y="19723608"/>
            <a:ext cx="1207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shaded moment from panel 1: soprano and alto have crossed, and the bass enters.</a:t>
            </a:r>
            <a:endParaRPr lang="en-US" sz="2000" dirty="0"/>
          </a:p>
        </p:txBody>
      </p:sp>
      <p:sp>
        <p:nvSpPr>
          <p:cNvPr id="174" name="Text 172"/>
          <p:cNvSpPr txBox="1"/>
          <p:nvPr/>
        </p:nvSpPr>
        <p:spPr>
          <a:xfrm>
            <a:off x="4160520" y="202722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</a:t>
            </a:r>
            <a:endParaRPr lang="en-US" sz="2200" dirty="0"/>
          </a:p>
        </p:txBody>
      </p:sp>
      <p:sp>
        <p:nvSpPr>
          <p:cNvPr id="175" name="Shape 173"/>
          <p:cNvSpPr/>
          <p:nvPr/>
        </p:nvSpPr>
        <p:spPr>
          <a:xfrm>
            <a:off x="5577840" y="20272248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5577840" y="202722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2000" dirty="0"/>
          </a:p>
        </p:txBody>
      </p:sp>
      <p:sp>
        <p:nvSpPr>
          <p:cNvPr id="177" name="Shape 175"/>
          <p:cNvSpPr/>
          <p:nvPr/>
        </p:nvSpPr>
        <p:spPr>
          <a:xfrm>
            <a:off x="6291072" y="20272248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6291072" y="202722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P48</a:t>
            </a:r>
            <a:endParaRPr lang="en-US" sz="2000" dirty="0"/>
          </a:p>
        </p:txBody>
      </p:sp>
      <p:sp>
        <p:nvSpPr>
          <p:cNvPr id="179" name="Shape 177"/>
          <p:cNvSpPr/>
          <p:nvPr/>
        </p:nvSpPr>
        <p:spPr>
          <a:xfrm>
            <a:off x="7004304" y="20272248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7004304" y="202722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</a:t>
            </a:r>
            <a:endParaRPr lang="en-US" sz="2000" dirty="0"/>
          </a:p>
        </p:txBody>
      </p:sp>
      <p:sp>
        <p:nvSpPr>
          <p:cNvPr id="181" name="Shape 179"/>
          <p:cNvSpPr/>
          <p:nvPr/>
        </p:nvSpPr>
        <p:spPr>
          <a:xfrm>
            <a:off x="7717536" y="20272248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7717536" y="202722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P64</a:t>
            </a:r>
            <a:endParaRPr lang="en-US" sz="2000" dirty="0"/>
          </a:p>
        </p:txBody>
      </p:sp>
      <p:sp>
        <p:nvSpPr>
          <p:cNvPr id="183" name="Shape 181"/>
          <p:cNvSpPr/>
          <p:nvPr/>
        </p:nvSpPr>
        <p:spPr>
          <a:xfrm>
            <a:off x="8430768" y="20272248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8430768" y="202722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</a:t>
            </a:r>
            <a:endParaRPr lang="en-US" sz="2000" dirty="0"/>
          </a:p>
        </p:txBody>
      </p:sp>
      <p:sp>
        <p:nvSpPr>
          <p:cNvPr id="185" name="Shape 183"/>
          <p:cNvSpPr/>
          <p:nvPr/>
        </p:nvSpPr>
        <p:spPr>
          <a:xfrm>
            <a:off x="9144000" y="20272248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9144000" y="202722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P67</a:t>
            </a:r>
            <a:endParaRPr lang="en-US" sz="2000" dirty="0"/>
          </a:p>
        </p:txBody>
      </p:sp>
      <p:sp>
        <p:nvSpPr>
          <p:cNvPr id="187" name="Shape 185"/>
          <p:cNvSpPr/>
          <p:nvPr/>
        </p:nvSpPr>
        <p:spPr>
          <a:xfrm>
            <a:off x="9857232" y="20272248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9857232" y="202722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</a:t>
            </a:r>
            <a:endParaRPr lang="en-US" sz="2000" dirty="0"/>
          </a:p>
        </p:txBody>
      </p:sp>
      <p:sp>
        <p:nvSpPr>
          <p:cNvPr id="189" name="Text 187"/>
          <p:cNvSpPr txBox="1"/>
          <p:nvPr/>
        </p:nvSpPr>
        <p:spPr>
          <a:xfrm>
            <a:off x="5577840" y="20857464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tokens (velocity omitted), sorted by pitch: the voices are lost.</a:t>
            </a:r>
            <a:endParaRPr lang="en-US" sz="1800" dirty="0"/>
          </a:p>
        </p:txBody>
      </p:sp>
      <p:sp>
        <p:nvSpPr>
          <p:cNvPr id="190" name="Text 188"/>
          <p:cNvSpPr txBox="1"/>
          <p:nvPr/>
        </p:nvSpPr>
        <p:spPr>
          <a:xfrm>
            <a:off x="4160520" y="213512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2200" dirty="0"/>
          </a:p>
        </p:txBody>
      </p:sp>
      <p:sp>
        <p:nvSpPr>
          <p:cNvPr id="191" name="Shape 189"/>
          <p:cNvSpPr/>
          <p:nvPr/>
        </p:nvSpPr>
        <p:spPr>
          <a:xfrm>
            <a:off x="5577840" y="21351240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192" name="Text 190"/>
          <p:cNvSpPr txBox="1"/>
          <p:nvPr/>
        </p:nvSpPr>
        <p:spPr>
          <a:xfrm>
            <a:off x="5577840" y="21351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2000" dirty="0"/>
          </a:p>
        </p:txBody>
      </p:sp>
      <p:sp>
        <p:nvSpPr>
          <p:cNvPr id="193" name="Shape 191"/>
          <p:cNvSpPr/>
          <p:nvPr/>
        </p:nvSpPr>
        <p:spPr>
          <a:xfrm>
            <a:off x="6217920" y="21351240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194" name="Text 192"/>
          <p:cNvSpPr txBox="1"/>
          <p:nvPr/>
        </p:nvSpPr>
        <p:spPr>
          <a:xfrm>
            <a:off x="6217920" y="21351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P48</a:t>
            </a:r>
            <a:endParaRPr lang="en-US" sz="2000" dirty="0"/>
          </a:p>
        </p:txBody>
      </p:sp>
      <p:sp>
        <p:nvSpPr>
          <p:cNvPr id="195" name="Shape 193"/>
          <p:cNvSpPr/>
          <p:nvPr/>
        </p:nvSpPr>
        <p:spPr>
          <a:xfrm>
            <a:off x="6858000" y="21351240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196" name="Text 194"/>
          <p:cNvSpPr txBox="1"/>
          <p:nvPr/>
        </p:nvSpPr>
        <p:spPr>
          <a:xfrm>
            <a:off x="6858000" y="21351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</a:t>
            </a:r>
            <a:endParaRPr lang="en-US" sz="2000" dirty="0"/>
          </a:p>
        </p:txBody>
      </p:sp>
      <p:sp>
        <p:nvSpPr>
          <p:cNvPr id="197" name="Shape 195"/>
          <p:cNvSpPr/>
          <p:nvPr/>
        </p:nvSpPr>
        <p:spPr>
          <a:xfrm>
            <a:off x="7680960" y="21351240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198" name="Text 196"/>
          <p:cNvSpPr txBox="1"/>
          <p:nvPr/>
        </p:nvSpPr>
        <p:spPr>
          <a:xfrm>
            <a:off x="7680960" y="21351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2000" dirty="0"/>
          </a:p>
        </p:txBody>
      </p:sp>
      <p:sp>
        <p:nvSpPr>
          <p:cNvPr id="199" name="Shape 197"/>
          <p:cNvSpPr/>
          <p:nvPr/>
        </p:nvSpPr>
        <p:spPr>
          <a:xfrm>
            <a:off x="8321040" y="21351240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00" name="Text 198"/>
          <p:cNvSpPr txBox="1"/>
          <p:nvPr/>
        </p:nvSpPr>
        <p:spPr>
          <a:xfrm>
            <a:off x="8321040" y="21351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P64</a:t>
            </a:r>
            <a:endParaRPr lang="en-US" sz="2000" dirty="0"/>
          </a:p>
        </p:txBody>
      </p:sp>
      <p:sp>
        <p:nvSpPr>
          <p:cNvPr id="201" name="Shape 199"/>
          <p:cNvSpPr/>
          <p:nvPr/>
        </p:nvSpPr>
        <p:spPr>
          <a:xfrm>
            <a:off x="8961120" y="21351240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02" name="Text 200"/>
          <p:cNvSpPr txBox="1"/>
          <p:nvPr/>
        </p:nvSpPr>
        <p:spPr>
          <a:xfrm>
            <a:off x="8961120" y="21351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</a:t>
            </a:r>
            <a:endParaRPr lang="en-US" sz="2000" dirty="0"/>
          </a:p>
        </p:txBody>
      </p:sp>
      <p:sp>
        <p:nvSpPr>
          <p:cNvPr id="203" name="Shape 201"/>
          <p:cNvSpPr/>
          <p:nvPr/>
        </p:nvSpPr>
        <p:spPr>
          <a:xfrm>
            <a:off x="9784080" y="21351240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04" name="Text 202"/>
          <p:cNvSpPr txBox="1"/>
          <p:nvPr/>
        </p:nvSpPr>
        <p:spPr>
          <a:xfrm>
            <a:off x="9784080" y="21351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2000" dirty="0"/>
          </a:p>
        </p:txBody>
      </p:sp>
      <p:sp>
        <p:nvSpPr>
          <p:cNvPr id="205" name="Shape 203"/>
          <p:cNvSpPr/>
          <p:nvPr/>
        </p:nvSpPr>
        <p:spPr>
          <a:xfrm>
            <a:off x="10424160" y="21351240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06" name="Text 204"/>
          <p:cNvSpPr txBox="1"/>
          <p:nvPr/>
        </p:nvSpPr>
        <p:spPr>
          <a:xfrm>
            <a:off x="10424160" y="21351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P67</a:t>
            </a:r>
            <a:endParaRPr lang="en-US" sz="2000" dirty="0"/>
          </a:p>
        </p:txBody>
      </p:sp>
      <p:sp>
        <p:nvSpPr>
          <p:cNvPr id="207" name="Shape 205"/>
          <p:cNvSpPr/>
          <p:nvPr/>
        </p:nvSpPr>
        <p:spPr>
          <a:xfrm>
            <a:off x="11064240" y="21351240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08" name="Text 206"/>
          <p:cNvSpPr txBox="1"/>
          <p:nvPr/>
        </p:nvSpPr>
        <p:spPr>
          <a:xfrm>
            <a:off x="11064240" y="21351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</a:t>
            </a:r>
            <a:endParaRPr lang="en-US" sz="2000" dirty="0"/>
          </a:p>
        </p:txBody>
      </p:sp>
      <p:sp>
        <p:nvSpPr>
          <p:cNvPr id="209" name="Text 207"/>
          <p:cNvSpPr txBox="1"/>
          <p:nvPr/>
        </p:nvSpPr>
        <p:spPr>
          <a:xfrm>
            <a:off x="5577840" y="21936456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compound tokens: shorter, same pitch sort, voices still lost.</a:t>
            </a:r>
            <a:endParaRPr lang="en-US" sz="1800" dirty="0"/>
          </a:p>
        </p:txBody>
      </p:sp>
      <p:sp>
        <p:nvSpPr>
          <p:cNvPr id="210" name="Text 208"/>
          <p:cNvSpPr txBox="1"/>
          <p:nvPr/>
        </p:nvSpPr>
        <p:spPr>
          <a:xfrm>
            <a:off x="4160520" y="224302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CANTUS</a:t>
            </a:r>
            <a:endParaRPr lang="en-US" sz="2200" dirty="0"/>
          </a:p>
        </p:txBody>
      </p:sp>
      <p:sp>
        <p:nvSpPr>
          <p:cNvPr id="211" name="Shape 209"/>
          <p:cNvSpPr/>
          <p:nvPr/>
        </p:nvSpPr>
        <p:spPr>
          <a:xfrm>
            <a:off x="5577840" y="22430232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12" name="Text 210"/>
          <p:cNvSpPr txBox="1"/>
          <p:nvPr/>
        </p:nvSpPr>
        <p:spPr>
          <a:xfrm>
            <a:off x="5577840" y="224302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2000" dirty="0"/>
          </a:p>
        </p:txBody>
      </p:sp>
      <p:sp>
        <p:nvSpPr>
          <p:cNvPr id="213" name="Shape 211"/>
          <p:cNvSpPr/>
          <p:nvPr/>
        </p:nvSpPr>
        <p:spPr>
          <a:xfrm>
            <a:off x="6217920" y="22430232"/>
            <a:ext cx="640080" cy="548640"/>
          </a:xfrm>
          <a:prstGeom prst="rect">
            <a:avLst/>
          </a:prstGeom>
          <a:solidFill>
            <a:srgbClr val="D55E00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14" name="Text 212"/>
          <p:cNvSpPr txBox="1"/>
          <p:nvPr/>
        </p:nvSpPr>
        <p:spPr>
          <a:xfrm>
            <a:off x="6217920" y="224302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</a:t>
            </a:r>
            <a:endParaRPr lang="en-US" sz="2000" dirty="0"/>
          </a:p>
        </p:txBody>
      </p:sp>
      <p:sp>
        <p:nvSpPr>
          <p:cNvPr id="215" name="Shape 213"/>
          <p:cNvSpPr/>
          <p:nvPr/>
        </p:nvSpPr>
        <p:spPr>
          <a:xfrm>
            <a:off x="6858000" y="22430232"/>
            <a:ext cx="868680" cy="548640"/>
          </a:xfrm>
          <a:prstGeom prst="rect">
            <a:avLst/>
          </a:prstGeom>
          <a:solidFill>
            <a:srgbClr val="FCEBB6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16" name="Text 214"/>
          <p:cNvSpPr txBox="1"/>
          <p:nvPr/>
        </p:nvSpPr>
        <p:spPr>
          <a:xfrm>
            <a:off x="6858000" y="224302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</a:t>
            </a:r>
            <a:endParaRPr lang="en-US" sz="2000" dirty="0"/>
          </a:p>
        </p:txBody>
      </p:sp>
      <p:sp>
        <p:nvSpPr>
          <p:cNvPr id="217" name="Shape 215"/>
          <p:cNvSpPr/>
          <p:nvPr/>
        </p:nvSpPr>
        <p:spPr>
          <a:xfrm>
            <a:off x="7726680" y="22430232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18" name="Text 216"/>
          <p:cNvSpPr txBox="1"/>
          <p:nvPr/>
        </p:nvSpPr>
        <p:spPr>
          <a:xfrm>
            <a:off x="7726680" y="224302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P64</a:t>
            </a:r>
            <a:endParaRPr lang="en-US" sz="2000" dirty="0"/>
          </a:p>
        </p:txBody>
      </p:sp>
      <p:sp>
        <p:nvSpPr>
          <p:cNvPr id="219" name="Shape 217"/>
          <p:cNvSpPr/>
          <p:nvPr/>
        </p:nvSpPr>
        <p:spPr>
          <a:xfrm>
            <a:off x="8366760" y="22430232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20" name="Text 218"/>
          <p:cNvSpPr txBox="1"/>
          <p:nvPr/>
        </p:nvSpPr>
        <p:spPr>
          <a:xfrm>
            <a:off x="8366760" y="224302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</a:t>
            </a:r>
            <a:endParaRPr lang="en-US" sz="2000" dirty="0"/>
          </a:p>
        </p:txBody>
      </p:sp>
      <p:sp>
        <p:nvSpPr>
          <p:cNvPr id="221" name="Shape 219"/>
          <p:cNvSpPr/>
          <p:nvPr/>
        </p:nvSpPr>
        <p:spPr>
          <a:xfrm>
            <a:off x="9189720" y="22430232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22" name="Text 220"/>
          <p:cNvSpPr txBox="1"/>
          <p:nvPr/>
        </p:nvSpPr>
        <p:spPr>
          <a:xfrm>
            <a:off x="9189720" y="224302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2000" dirty="0"/>
          </a:p>
        </p:txBody>
      </p:sp>
      <p:sp>
        <p:nvSpPr>
          <p:cNvPr id="223" name="Shape 221"/>
          <p:cNvSpPr/>
          <p:nvPr/>
        </p:nvSpPr>
        <p:spPr>
          <a:xfrm>
            <a:off x="9829800" y="22430232"/>
            <a:ext cx="640080" cy="548640"/>
          </a:xfrm>
          <a:prstGeom prst="rect">
            <a:avLst/>
          </a:prstGeom>
          <a:solidFill>
            <a:srgbClr val="0072B2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24" name="Text 222"/>
          <p:cNvSpPr txBox="1"/>
          <p:nvPr/>
        </p:nvSpPr>
        <p:spPr>
          <a:xfrm>
            <a:off x="9829800" y="224302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2000" dirty="0"/>
          </a:p>
        </p:txBody>
      </p:sp>
      <p:sp>
        <p:nvSpPr>
          <p:cNvPr id="225" name="Shape 223"/>
          <p:cNvSpPr/>
          <p:nvPr/>
        </p:nvSpPr>
        <p:spPr>
          <a:xfrm>
            <a:off x="10469880" y="22430232"/>
            <a:ext cx="868680" cy="548640"/>
          </a:xfrm>
          <a:prstGeom prst="rect">
            <a:avLst/>
          </a:prstGeom>
          <a:solidFill>
            <a:srgbClr val="FCEBB6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26" name="Text 224"/>
          <p:cNvSpPr txBox="1"/>
          <p:nvPr/>
        </p:nvSpPr>
        <p:spPr>
          <a:xfrm>
            <a:off x="10469880" y="224302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</a:t>
            </a:r>
            <a:endParaRPr lang="en-US" sz="2000" dirty="0"/>
          </a:p>
        </p:txBody>
      </p:sp>
      <p:sp>
        <p:nvSpPr>
          <p:cNvPr id="227" name="Shape 225"/>
          <p:cNvSpPr/>
          <p:nvPr/>
        </p:nvSpPr>
        <p:spPr>
          <a:xfrm>
            <a:off x="11338560" y="22430232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28" name="Text 226"/>
          <p:cNvSpPr txBox="1"/>
          <p:nvPr/>
        </p:nvSpPr>
        <p:spPr>
          <a:xfrm>
            <a:off x="11338560" y="224302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P67</a:t>
            </a:r>
            <a:endParaRPr lang="en-US" sz="2000" dirty="0"/>
          </a:p>
        </p:txBody>
      </p:sp>
      <p:sp>
        <p:nvSpPr>
          <p:cNvPr id="229" name="Shape 227"/>
          <p:cNvSpPr/>
          <p:nvPr/>
        </p:nvSpPr>
        <p:spPr>
          <a:xfrm>
            <a:off x="11978640" y="22430232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30" name="Text 228"/>
          <p:cNvSpPr txBox="1"/>
          <p:nvPr/>
        </p:nvSpPr>
        <p:spPr>
          <a:xfrm>
            <a:off x="11978640" y="224302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</a:t>
            </a:r>
            <a:endParaRPr lang="en-US" sz="2000" dirty="0"/>
          </a:p>
        </p:txBody>
      </p:sp>
      <p:sp>
        <p:nvSpPr>
          <p:cNvPr id="231" name="Shape 229"/>
          <p:cNvSpPr/>
          <p:nvPr/>
        </p:nvSpPr>
        <p:spPr>
          <a:xfrm>
            <a:off x="12801600" y="22430232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32" name="Text 230"/>
          <p:cNvSpPr txBox="1"/>
          <p:nvPr/>
        </p:nvSpPr>
        <p:spPr>
          <a:xfrm>
            <a:off x="12801600" y="224302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2000" dirty="0"/>
          </a:p>
        </p:txBody>
      </p:sp>
      <p:sp>
        <p:nvSpPr>
          <p:cNvPr id="233" name="Shape 231"/>
          <p:cNvSpPr/>
          <p:nvPr/>
        </p:nvSpPr>
        <p:spPr>
          <a:xfrm>
            <a:off x="13441680" y="22430232"/>
            <a:ext cx="640080" cy="548640"/>
          </a:xfrm>
          <a:prstGeom prst="rect">
            <a:avLst/>
          </a:prstGeom>
          <a:solidFill>
            <a:srgbClr val="009E73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34" name="Text 232"/>
          <p:cNvSpPr txBox="1"/>
          <p:nvPr/>
        </p:nvSpPr>
        <p:spPr>
          <a:xfrm>
            <a:off x="13441680" y="224302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2000" dirty="0"/>
          </a:p>
        </p:txBody>
      </p:sp>
      <p:sp>
        <p:nvSpPr>
          <p:cNvPr id="235" name="Shape 233"/>
          <p:cNvSpPr/>
          <p:nvPr/>
        </p:nvSpPr>
        <p:spPr>
          <a:xfrm>
            <a:off x="14081760" y="22430232"/>
            <a:ext cx="868680" cy="548640"/>
          </a:xfrm>
          <a:prstGeom prst="rect">
            <a:avLst/>
          </a:prstGeom>
          <a:solidFill>
            <a:srgbClr val="FCEBB6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36" name="Text 234"/>
          <p:cNvSpPr txBox="1"/>
          <p:nvPr/>
        </p:nvSpPr>
        <p:spPr>
          <a:xfrm>
            <a:off x="14081760" y="224302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</a:t>
            </a:r>
            <a:endParaRPr lang="en-US" sz="2000" dirty="0"/>
          </a:p>
        </p:txBody>
      </p:sp>
      <p:sp>
        <p:nvSpPr>
          <p:cNvPr id="237" name="Shape 235"/>
          <p:cNvSpPr/>
          <p:nvPr/>
        </p:nvSpPr>
        <p:spPr>
          <a:xfrm>
            <a:off x="14950440" y="22430232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38" name="Text 236"/>
          <p:cNvSpPr txBox="1"/>
          <p:nvPr/>
        </p:nvSpPr>
        <p:spPr>
          <a:xfrm>
            <a:off x="14950440" y="224302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P48</a:t>
            </a:r>
            <a:endParaRPr lang="en-US" sz="2000" dirty="0"/>
          </a:p>
        </p:txBody>
      </p:sp>
      <p:sp>
        <p:nvSpPr>
          <p:cNvPr id="239" name="Shape 237"/>
          <p:cNvSpPr/>
          <p:nvPr/>
        </p:nvSpPr>
        <p:spPr>
          <a:xfrm>
            <a:off x="15590520" y="22430232"/>
            <a:ext cx="640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40" name="Text 238"/>
          <p:cNvSpPr txBox="1"/>
          <p:nvPr/>
        </p:nvSpPr>
        <p:spPr>
          <a:xfrm>
            <a:off x="15590520" y="224302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</a:t>
            </a:r>
            <a:endParaRPr lang="en-US" sz="2000" dirty="0"/>
          </a:p>
        </p:txBody>
      </p:sp>
      <p:sp>
        <p:nvSpPr>
          <p:cNvPr id="241" name="Text 239"/>
          <p:cNvSpPr txBox="1"/>
          <p:nvPr/>
        </p:nvSpPr>
        <p:spPr>
          <a:xfrm>
            <a:off x="5577840" y="23015448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voice: the crossing stays visible and the entry is flagged.</a:t>
            </a:r>
            <a:endParaRPr lang="en-US" sz="1800" dirty="0"/>
          </a:p>
        </p:txBody>
      </p:sp>
      <p:sp>
        <p:nvSpPr>
          <p:cNvPr id="242" name="Shape 240"/>
          <p:cNvSpPr/>
          <p:nvPr/>
        </p:nvSpPr>
        <p:spPr>
          <a:xfrm>
            <a:off x="16596360" y="20272248"/>
            <a:ext cx="37360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43" name="Text 241"/>
          <p:cNvSpPr txBox="1"/>
          <p:nvPr/>
        </p:nvSpPr>
        <p:spPr>
          <a:xfrm>
            <a:off x="16797528" y="20381976"/>
            <a:ext cx="3333744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tokens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</a:t>
            </a:r>
            <a:pPr algn="l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in the bar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P64 </a:t>
            </a:r>
            <a:pPr algn="l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(MIDI 64 = E4)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 </a:t>
            </a:r>
            <a:pPr algn="l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</a:t>
            </a:r>
            <a:pPr algn="l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ID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 / enter </a:t>
            </a:r>
            <a:pPr algn="l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state</a:t>
            </a:r>
            <a:endParaRPr lang="en-US" sz="1800" dirty="0"/>
          </a:p>
        </p:txBody>
      </p:sp>
      <p:sp>
        <p:nvSpPr>
          <p:cNvPr id="244" name="Shape 242"/>
          <p:cNvSpPr/>
          <p:nvPr/>
        </p:nvSpPr>
        <p:spPr>
          <a:xfrm>
            <a:off x="4160520" y="23710392"/>
            <a:ext cx="39058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45" name="Text 243"/>
          <p:cNvSpPr txBox="1"/>
          <p:nvPr/>
        </p:nvSpPr>
        <p:spPr>
          <a:xfrm>
            <a:off x="4343400" y="23820120"/>
            <a:ext cx="2625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800" dirty="0"/>
          </a:p>
        </p:txBody>
      </p:sp>
      <p:sp>
        <p:nvSpPr>
          <p:cNvPr id="246" name="Shape 244"/>
          <p:cNvSpPr/>
          <p:nvPr/>
        </p:nvSpPr>
        <p:spPr>
          <a:xfrm>
            <a:off x="7014780" y="23820120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FCEBB6"/>
          </a:solidFill>
          <a:ln/>
        </p:spPr>
      </p:sp>
      <p:sp>
        <p:nvSpPr>
          <p:cNvPr id="247" name="Text 245"/>
          <p:cNvSpPr txBox="1"/>
          <p:nvPr/>
        </p:nvSpPr>
        <p:spPr>
          <a:xfrm>
            <a:off x="7014780" y="238201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G2</a:t>
            </a:r>
            <a:endParaRPr lang="en-US" sz="1800" dirty="0"/>
          </a:p>
        </p:txBody>
      </p:sp>
      <p:sp>
        <p:nvSpPr>
          <p:cNvPr id="248" name="Text 246"/>
          <p:cNvSpPr txBox="1"/>
          <p:nvPr/>
        </p:nvSpPr>
        <p:spPr>
          <a:xfrm>
            <a:off x="4343400" y="24213312"/>
            <a:ext cx="35400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Voice-indexed tokens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ID + enter / continue / end flag</a:t>
            </a:r>
            <a:endParaRPr lang="en-US" sz="1800" dirty="0"/>
          </a:p>
        </p:txBody>
      </p:sp>
      <p:sp>
        <p:nvSpPr>
          <p:cNvPr id="249" name="Shape 247"/>
          <p:cNvSpPr/>
          <p:nvPr/>
        </p:nvSpPr>
        <p:spPr>
          <a:xfrm>
            <a:off x="8249220" y="23710392"/>
            <a:ext cx="39058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50" name="Text 248"/>
          <p:cNvSpPr txBox="1"/>
          <p:nvPr/>
        </p:nvSpPr>
        <p:spPr>
          <a:xfrm>
            <a:off x="8432100" y="23820120"/>
            <a:ext cx="2625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800" dirty="0"/>
          </a:p>
        </p:txBody>
      </p:sp>
      <p:sp>
        <p:nvSpPr>
          <p:cNvPr id="251" name="Shape 249"/>
          <p:cNvSpPr/>
          <p:nvPr/>
        </p:nvSpPr>
        <p:spPr>
          <a:xfrm>
            <a:off x="11103480" y="23820120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FCEBB6"/>
          </a:solidFill>
          <a:ln/>
        </p:spPr>
      </p:sp>
      <p:sp>
        <p:nvSpPr>
          <p:cNvPr id="252" name="Text 250"/>
          <p:cNvSpPr txBox="1"/>
          <p:nvPr/>
        </p:nvSpPr>
        <p:spPr>
          <a:xfrm>
            <a:off x="11103480" y="238201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G5</a:t>
            </a:r>
            <a:endParaRPr lang="en-US" sz="1800" dirty="0"/>
          </a:p>
        </p:txBody>
      </p:sp>
      <p:sp>
        <p:nvSpPr>
          <p:cNvPr id="253" name="Text 251"/>
          <p:cNvSpPr txBox="1"/>
          <p:nvPr/>
        </p:nvSpPr>
        <p:spPr>
          <a:xfrm>
            <a:off x="8432100" y="24213312"/>
            <a:ext cx="35400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voice annotation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scores, voice separators, or blank</a:t>
            </a:r>
            <a:endParaRPr lang="en-US" sz="1800" dirty="0"/>
          </a:p>
        </p:txBody>
      </p:sp>
      <p:sp>
        <p:nvSpPr>
          <p:cNvPr id="254" name="Shape 252"/>
          <p:cNvSpPr/>
          <p:nvPr/>
        </p:nvSpPr>
        <p:spPr>
          <a:xfrm>
            <a:off x="12337920" y="23710392"/>
            <a:ext cx="39058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55" name="Text 253"/>
          <p:cNvSpPr txBox="1"/>
          <p:nvPr/>
        </p:nvSpPr>
        <p:spPr>
          <a:xfrm>
            <a:off x="12520800" y="23820120"/>
            <a:ext cx="2625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800" dirty="0"/>
          </a:p>
        </p:txBody>
      </p:sp>
      <p:sp>
        <p:nvSpPr>
          <p:cNvPr id="256" name="Shape 254"/>
          <p:cNvSpPr/>
          <p:nvPr/>
        </p:nvSpPr>
        <p:spPr>
          <a:xfrm>
            <a:off x="15192180" y="23820120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FCEBB6"/>
          </a:solidFill>
          <a:ln/>
        </p:spPr>
      </p:sp>
      <p:sp>
        <p:nvSpPr>
          <p:cNvPr id="257" name="Text 255"/>
          <p:cNvSpPr txBox="1"/>
          <p:nvPr/>
        </p:nvSpPr>
        <p:spPr>
          <a:xfrm>
            <a:off x="15192180" y="238201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G4</a:t>
            </a:r>
            <a:endParaRPr lang="en-US" sz="1800" dirty="0"/>
          </a:p>
        </p:txBody>
      </p:sp>
      <p:sp>
        <p:nvSpPr>
          <p:cNvPr id="258" name="Text 256"/>
          <p:cNvSpPr txBox="1"/>
          <p:nvPr/>
        </p:nvSpPr>
        <p:spPr>
          <a:xfrm>
            <a:off x="12520800" y="24213312"/>
            <a:ext cx="35400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Counterpoint checks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crossings, parallel 5ths/8ves, independence</a:t>
            </a:r>
            <a:endParaRPr lang="en-US" sz="1800" dirty="0"/>
          </a:p>
        </p:txBody>
      </p:sp>
      <p:sp>
        <p:nvSpPr>
          <p:cNvPr id="259" name="Shape 257"/>
          <p:cNvSpPr/>
          <p:nvPr/>
        </p:nvSpPr>
        <p:spPr>
          <a:xfrm>
            <a:off x="16426620" y="23710392"/>
            <a:ext cx="39058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60" name="Text 258"/>
          <p:cNvSpPr txBox="1"/>
          <p:nvPr/>
        </p:nvSpPr>
        <p:spPr>
          <a:xfrm>
            <a:off x="16609500" y="23820120"/>
            <a:ext cx="2625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800" dirty="0"/>
          </a:p>
        </p:txBody>
      </p:sp>
      <p:sp>
        <p:nvSpPr>
          <p:cNvPr id="261" name="Shape 259"/>
          <p:cNvSpPr/>
          <p:nvPr/>
        </p:nvSpPr>
        <p:spPr>
          <a:xfrm>
            <a:off x="19280880" y="23820120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FCEBB6"/>
          </a:solidFill>
          <a:ln/>
        </p:spPr>
      </p:sp>
      <p:sp>
        <p:nvSpPr>
          <p:cNvPr id="262" name="Text 260"/>
          <p:cNvSpPr txBox="1"/>
          <p:nvPr/>
        </p:nvSpPr>
        <p:spPr>
          <a:xfrm>
            <a:off x="19280880" y="238201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G5</a:t>
            </a:r>
            <a:endParaRPr lang="en-US" sz="1800" dirty="0"/>
          </a:p>
        </p:txBody>
      </p:sp>
      <p:sp>
        <p:nvSpPr>
          <p:cNvPr id="263" name="Text 261"/>
          <p:cNvSpPr txBox="1"/>
          <p:nvPr/>
        </p:nvSpPr>
        <p:spPr>
          <a:xfrm>
            <a:off x="16609500" y="24213312"/>
            <a:ext cx="35400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+ report card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compared with a voice-blind twin</a:t>
            </a:r>
            <a:endParaRPr lang="en-US" sz="1800" dirty="0"/>
          </a:p>
        </p:txBody>
      </p:sp>
      <p:sp>
        <p:nvSpPr>
          <p:cNvPr id="264" name="Shape 262"/>
          <p:cNvSpPr/>
          <p:nvPr/>
        </p:nvSpPr>
        <p:spPr>
          <a:xfrm>
            <a:off x="3794760" y="25831800"/>
            <a:ext cx="6400800" cy="3712680"/>
          </a:xfrm>
          <a:prstGeom prst="roundRect">
            <a:avLst>
              <a:gd name="adj" fmla="val 6157"/>
            </a:avLst>
          </a:prstGeom>
          <a:solidFill>
            <a:srgbClr val="EEF2F7"/>
          </a:solidFill>
          <a:ln/>
        </p:spPr>
      </p:sp>
      <p:sp>
        <p:nvSpPr>
          <p:cNvPr id="265" name="Shape 263"/>
          <p:cNvSpPr/>
          <p:nvPr/>
        </p:nvSpPr>
        <p:spPr>
          <a:xfrm>
            <a:off x="4160520" y="26197560"/>
            <a:ext cx="640080" cy="64008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6" name="Text 264"/>
          <p:cNvSpPr txBox="1"/>
          <p:nvPr/>
        </p:nvSpPr>
        <p:spPr>
          <a:xfrm>
            <a:off x="4160520" y="2619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67" name="Text 265"/>
          <p:cNvSpPr txBox="1"/>
          <p:nvPr/>
        </p:nvSpPr>
        <p:spPr>
          <a:xfrm>
            <a:off x="5001768" y="26151840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it: a fugue pilot</a:t>
            </a:r>
            <a:endParaRPr lang="en-US" sz="3600" dirty="0"/>
          </a:p>
        </p:txBody>
      </p:sp>
      <p:sp>
        <p:nvSpPr>
          <p:cNvPr id="268" name="Shape 266"/>
          <p:cNvSpPr/>
          <p:nvPr/>
        </p:nvSpPr>
        <p:spPr>
          <a:xfrm>
            <a:off x="4160520" y="27038808"/>
            <a:ext cx="169468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69" name="Text 267"/>
          <p:cNvSpPr txBox="1"/>
          <p:nvPr/>
        </p:nvSpPr>
        <p:spPr>
          <a:xfrm>
            <a:off x="4233672" y="27038808"/>
            <a:ext cx="15483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fugues, Well-Tempered Clavier</a:t>
            </a:r>
            <a:endParaRPr lang="en-US" sz="1800" dirty="0"/>
          </a:p>
        </p:txBody>
      </p:sp>
      <p:sp>
        <p:nvSpPr>
          <p:cNvPr id="270" name="Shape 268"/>
          <p:cNvSpPr/>
          <p:nvPr/>
        </p:nvSpPr>
        <p:spPr>
          <a:xfrm>
            <a:off x="5891784" y="27701748"/>
            <a:ext cx="219456" cy="0"/>
          </a:xfrm>
          <a:prstGeom prst="line">
            <a:avLst/>
          </a:prstGeom>
          <a:noFill/>
          <a:ln w="3810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271" name="Shape 269"/>
          <p:cNvSpPr/>
          <p:nvPr/>
        </p:nvSpPr>
        <p:spPr>
          <a:xfrm>
            <a:off x="6147816" y="27038808"/>
            <a:ext cx="169468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72" name="Text 270"/>
          <p:cNvSpPr txBox="1"/>
          <p:nvPr/>
        </p:nvSpPr>
        <p:spPr>
          <a:xfrm>
            <a:off x="6220968" y="27038808"/>
            <a:ext cx="15483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Fugue (held out)</a:t>
            </a:r>
            <a:endParaRPr lang="en-US" sz="1800" dirty="0"/>
          </a:p>
        </p:txBody>
      </p:sp>
      <p:sp>
        <p:nvSpPr>
          <p:cNvPr id="273" name="Shape 271"/>
          <p:cNvSpPr/>
          <p:nvPr/>
        </p:nvSpPr>
        <p:spPr>
          <a:xfrm>
            <a:off x="7879080" y="27701748"/>
            <a:ext cx="219456" cy="0"/>
          </a:xfrm>
          <a:prstGeom prst="line">
            <a:avLst/>
          </a:prstGeom>
          <a:noFill/>
          <a:ln w="3810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274" name="Shape 272"/>
          <p:cNvSpPr/>
          <p:nvPr/>
        </p:nvSpPr>
        <p:spPr>
          <a:xfrm>
            <a:off x="8135112" y="27038808"/>
            <a:ext cx="169468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C5CEDB"/>
            </a:solidFill>
            <a:prstDash val="solid"/>
          </a:ln>
        </p:spPr>
      </p:sp>
      <p:sp>
        <p:nvSpPr>
          <p:cNvPr id="275" name="Text 273"/>
          <p:cNvSpPr txBox="1"/>
          <p:nvPr/>
        </p:nvSpPr>
        <p:spPr>
          <a:xfrm>
            <a:off x="8208264" y="27038808"/>
            <a:ext cx="15483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voice-blind, fixed-slot, CANTUS</a:t>
            </a:r>
            <a:endParaRPr lang="en-US" sz="1800" dirty="0"/>
          </a:p>
        </p:txBody>
      </p:sp>
      <p:sp>
        <p:nvSpPr>
          <p:cNvPr id="276" name="Text 274"/>
          <p:cNvSpPr txBox="1"/>
          <p:nvPr/>
        </p:nvSpPr>
        <p:spPr>
          <a:xfrm>
            <a:off x="4160520" y="28501848"/>
            <a:ext cx="5669280" cy="81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fails if </a:t>
            </a:r>
            <a:pPr algn="l" indent="0" marL="0">
              <a:buNone/>
            </a:pPr>
            <a:r>
              <a:rPr lang="en-US" sz="19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CANTUS beats the fixed-slot model on neither likelihood nor rule violations.</a:t>
            </a:r>
            <a:endParaRPr lang="en-US" sz="1900" dirty="0"/>
          </a:p>
        </p:txBody>
      </p:sp>
      <p:sp>
        <p:nvSpPr>
          <p:cNvPr id="277" name="Shape 275"/>
          <p:cNvSpPr/>
          <p:nvPr/>
        </p:nvSpPr>
        <p:spPr>
          <a:xfrm>
            <a:off x="10652760" y="25831800"/>
            <a:ext cx="10045440" cy="3712680"/>
          </a:xfrm>
          <a:prstGeom prst="roundRect">
            <a:avLst>
              <a:gd name="adj" fmla="val 6157"/>
            </a:avLst>
          </a:prstGeom>
          <a:solidFill>
            <a:srgbClr val="EEF2F7"/>
          </a:solidFill>
          <a:ln/>
        </p:spPr>
      </p:sp>
      <p:sp>
        <p:nvSpPr>
          <p:cNvPr id="278" name="Shape 276"/>
          <p:cNvSpPr/>
          <p:nvPr/>
        </p:nvSpPr>
        <p:spPr>
          <a:xfrm>
            <a:off x="11018520" y="26197560"/>
            <a:ext cx="640080" cy="64008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79" name="Text 277"/>
          <p:cNvSpPr txBox="1"/>
          <p:nvPr/>
        </p:nvSpPr>
        <p:spPr>
          <a:xfrm>
            <a:off x="11018520" y="2619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80" name="Text 278"/>
          <p:cNvSpPr txBox="1"/>
          <p:nvPr/>
        </p:nvSpPr>
        <p:spPr>
          <a:xfrm>
            <a:off x="11859768" y="26151840"/>
            <a:ext cx="8472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limits and conclusion</a:t>
            </a:r>
            <a:endParaRPr lang="en-US" sz="3600" dirty="0"/>
          </a:p>
        </p:txBody>
      </p:sp>
      <p:sp>
        <p:nvSpPr>
          <p:cNvPr id="281" name="Text 279"/>
          <p:cNvSpPr txBox="1"/>
          <p:nvPr/>
        </p:nvSpPr>
        <p:spPr>
          <a:xfrm>
            <a:off x="11018520" y="27038808"/>
            <a:ext cx="4572000" cy="223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Provenance: </a:t>
            </a:r>
            <a:pPr algn="l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scraped, often unlicensed scores.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Authorship: </a:t>
            </a:r>
            <a:pPr algn="l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checks for copied phrases.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bias: </a:t>
            </a:r>
            <a:pPr algn="l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12-tone grids distort other musics.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Deskilling: </a:t>
            </a:r>
            <a:pPr algn="l" indent="0" marL="0">
              <a:buNone/>
            </a:pPr>
            <a:r>
              <a:rPr lang="en-US" sz="18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arrangers are hit first.</a:t>
            </a:r>
            <a:endParaRPr lang="en-US" sz="18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</a:t>
            </a:r>
            <a:pPr algn="l" indent="0" marL="0">
              <a:buNone/>
            </a:pPr>
            <a:r>
              <a:rPr lang="en-US" sz="1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reviewer; no voice search terms; CANTUS untested.</a:t>
            </a:r>
            <a:endParaRPr lang="en-US" sz="1800" dirty="0"/>
          </a:p>
        </p:txBody>
      </p:sp>
      <p:sp>
        <p:nvSpPr>
          <p:cNvPr id="282" name="Shape 280"/>
          <p:cNvSpPr/>
          <p:nvPr/>
        </p:nvSpPr>
        <p:spPr>
          <a:xfrm>
            <a:off x="15956280" y="27038808"/>
            <a:ext cx="4376160" cy="2231352"/>
          </a:xfrm>
          <a:prstGeom prst="roundRect">
            <a:avLst>
              <a:gd name="adj" fmla="val 4918"/>
            </a:avLst>
          </a:prstGeom>
          <a:solidFill>
            <a:srgbClr val="FCEBB6"/>
          </a:solidFill>
          <a:ln/>
        </p:spPr>
      </p:sp>
      <p:sp>
        <p:nvSpPr>
          <p:cNvPr id="283" name="Text 281"/>
          <p:cNvSpPr txBox="1"/>
          <p:nvPr/>
        </p:nvSpPr>
        <p:spPr>
          <a:xfrm>
            <a:off x="16139160" y="27038808"/>
            <a:ext cx="4010400" cy="223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Tokenizers now handle rhythm and length well; what they lack is the voice. CANTUS adds it as a token field, making voice-leading measurable. The fugue pilot tests whether it helps.</a:t>
            </a:r>
            <a:endParaRPr lang="en-US" sz="2000" dirty="0"/>
          </a:p>
        </p:txBody>
      </p:sp>
      <p:sp>
        <p:nvSpPr>
          <p:cNvPr id="284" name="Text 282"/>
          <p:cNvSpPr txBox="1"/>
          <p:nvPr/>
        </p:nvSpPr>
        <p:spPr>
          <a:xfrm>
            <a:off x="3794760" y="29654208"/>
            <a:ext cx="1690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references: Huang et al., Music Transformer, ICLR 2019 · Huang &amp; Yang, REMI, ACM MM 2020 · Hsiao et al., Compound Word Transformer, AAAI 2021 · Page et al., PRISMA 2020, BMJ 2021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CANTUS research poster (A1)</dc:title>
  <dc:subject>PptxGenJS Presentation</dc:subject>
  <dc:creator>PptxGenJS</dc:creator>
  <cp:lastModifiedBy>PptxGenJS</cp:lastModifiedBy>
  <cp:revision>1</cp:revision>
  <dcterms:created xsi:type="dcterms:W3CDTF">2026-09-25T06:51:25Z</dcterms:created>
  <dcterms:modified xsi:type="dcterms:W3CDTF">2026-09-25T06:51:25Z</dcterms:modified>
</cp:coreProperties>
</file>